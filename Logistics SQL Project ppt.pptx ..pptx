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96" r:id="rId6"/>
    <p:sldId id="260" r:id="rId7"/>
    <p:sldId id="261" r:id="rId8"/>
    <p:sldId id="294" r:id="rId9"/>
    <p:sldId id="262" r:id="rId10"/>
    <p:sldId id="297" r:id="rId11"/>
    <p:sldId id="298" r:id="rId12"/>
    <p:sldId id="299" r:id="rId13"/>
    <p:sldId id="263" r:id="rId14"/>
    <p:sldId id="293" r:id="rId15"/>
    <p:sldId id="300" r:id="rId16"/>
    <p:sldId id="264" r:id="rId17"/>
    <p:sldId id="277" r:id="rId18"/>
    <p:sldId id="301" r:id="rId19"/>
    <p:sldId id="302" r:id="rId20"/>
    <p:sldId id="265" r:id="rId21"/>
    <p:sldId id="278" r:id="rId22"/>
    <p:sldId id="266" r:id="rId23"/>
    <p:sldId id="279" r:id="rId24"/>
    <p:sldId id="267" r:id="rId25"/>
    <p:sldId id="280" r:id="rId26"/>
    <p:sldId id="268" r:id="rId27"/>
    <p:sldId id="269" r:id="rId28"/>
    <p:sldId id="270" r:id="rId29"/>
    <p:sldId id="281" r:id="rId30"/>
    <p:sldId id="282" r:id="rId31"/>
    <p:sldId id="271" r:id="rId32"/>
    <p:sldId id="283" r:id="rId33"/>
    <p:sldId id="272" r:id="rId34"/>
    <p:sldId id="284" r:id="rId35"/>
    <p:sldId id="273" r:id="rId36"/>
    <p:sldId id="274" r:id="rId37"/>
    <p:sldId id="285" r:id="rId38"/>
    <p:sldId id="286" r:id="rId39"/>
    <p:sldId id="304" r:id="rId40"/>
    <p:sldId id="303" r:id="rId41"/>
    <p:sldId id="287" r:id="rId42"/>
    <p:sldId id="288" r:id="rId43"/>
    <p:sldId id="289" r:id="rId44"/>
    <p:sldId id="290" r:id="rId45"/>
    <p:sldId id="291" r:id="rId46"/>
    <p:sldId id="292" r:id="rId47"/>
    <p:sldId id="305" r:id="rId48"/>
    <p:sldId id="306" r:id="rId49"/>
    <p:sldId id="307" r:id="rId50"/>
    <p:sldId id="309" r:id="rId51"/>
    <p:sldId id="308"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C524855-B6A3-400C-AC11-ED09CB1341CC}">
          <p14:sldIdLst/>
        </p14:section>
        <p14:section name="Untitled Section" id="{9C0FD2E6-F6BA-47B7-8D98-FDACCC98D893}">
          <p14:sldIdLst>
            <p14:sldId id="256"/>
            <p14:sldId id="257"/>
            <p14:sldId id="258"/>
            <p14:sldId id="259"/>
            <p14:sldId id="296"/>
            <p14:sldId id="260"/>
            <p14:sldId id="261"/>
            <p14:sldId id="294"/>
            <p14:sldId id="262"/>
            <p14:sldId id="297"/>
            <p14:sldId id="298"/>
            <p14:sldId id="299"/>
            <p14:sldId id="263"/>
            <p14:sldId id="293"/>
            <p14:sldId id="300"/>
            <p14:sldId id="264"/>
            <p14:sldId id="277"/>
            <p14:sldId id="301"/>
            <p14:sldId id="302"/>
            <p14:sldId id="265"/>
            <p14:sldId id="278"/>
            <p14:sldId id="266"/>
            <p14:sldId id="279"/>
            <p14:sldId id="267"/>
            <p14:sldId id="280"/>
            <p14:sldId id="268"/>
            <p14:sldId id="269"/>
            <p14:sldId id="270"/>
            <p14:sldId id="281"/>
            <p14:sldId id="282"/>
            <p14:sldId id="271"/>
            <p14:sldId id="283"/>
            <p14:sldId id="272"/>
            <p14:sldId id="284"/>
            <p14:sldId id="273"/>
            <p14:sldId id="274"/>
            <p14:sldId id="285"/>
            <p14:sldId id="286"/>
            <p14:sldId id="304"/>
            <p14:sldId id="303"/>
            <p14:sldId id="287"/>
            <p14:sldId id="288"/>
            <p14:sldId id="289"/>
            <p14:sldId id="290"/>
            <p14:sldId id="291"/>
            <p14:sldId id="292"/>
            <p14:sldId id="305"/>
            <p14:sldId id="306"/>
            <p14:sldId id="307"/>
            <p14:sldId id="309"/>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3922" autoAdjust="0"/>
  </p:normalViewPr>
  <p:slideViewPr>
    <p:cSldViewPr snapToGrid="0">
      <p:cViewPr varScale="1">
        <p:scale>
          <a:sx n="77" d="100"/>
          <a:sy n="77" d="100"/>
        </p:scale>
        <p:origin x="45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Top 10 Delayed Routes (Average Delay in Days)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Avg_Delay_Days</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Sheet1!$A$2:$A$11</c:f>
              <c:strCache>
                <c:ptCount val="10"/>
                <c:pt idx="0">
                  <c:v>R012</c:v>
                </c:pt>
                <c:pt idx="1">
                  <c:v>R020</c:v>
                </c:pt>
                <c:pt idx="2">
                  <c:v>R017</c:v>
                </c:pt>
                <c:pt idx="3">
                  <c:v>R015</c:v>
                </c:pt>
                <c:pt idx="4">
                  <c:v>R005</c:v>
                </c:pt>
                <c:pt idx="5">
                  <c:v>R004</c:v>
                </c:pt>
                <c:pt idx="6">
                  <c:v>R013</c:v>
                </c:pt>
                <c:pt idx="7">
                  <c:v>R011</c:v>
                </c:pt>
                <c:pt idx="8">
                  <c:v>R010</c:v>
                </c:pt>
                <c:pt idx="9">
                  <c:v>R007</c:v>
                </c:pt>
              </c:strCache>
            </c:strRef>
          </c:cat>
          <c:val>
            <c:numRef>
              <c:f>Sheet1!$B$2:$B$11</c:f>
              <c:numCache>
                <c:formatCode>General</c:formatCode>
                <c:ptCount val="10"/>
                <c:pt idx="0">
                  <c:v>1.0832999999999999</c:v>
                </c:pt>
                <c:pt idx="1">
                  <c:v>1.0588</c:v>
                </c:pt>
                <c:pt idx="2">
                  <c:v>1</c:v>
                </c:pt>
                <c:pt idx="3">
                  <c:v>1</c:v>
                </c:pt>
                <c:pt idx="4">
                  <c:v>0.8</c:v>
                </c:pt>
                <c:pt idx="5">
                  <c:v>0.8</c:v>
                </c:pt>
                <c:pt idx="6">
                  <c:v>0.76470000000000005</c:v>
                </c:pt>
                <c:pt idx="7">
                  <c:v>0.7</c:v>
                </c:pt>
                <c:pt idx="8">
                  <c:v>0.7</c:v>
                </c:pt>
                <c:pt idx="9">
                  <c:v>0.6875</c:v>
                </c:pt>
              </c:numCache>
            </c:numRef>
          </c:val>
          <c:extLst>
            <c:ext xmlns:c16="http://schemas.microsoft.com/office/drawing/2014/chart" uri="{C3380CC4-5D6E-409C-BE32-E72D297353CC}">
              <c16:uniqueId val="{00000000-8384-4759-B724-2134F407BCA0}"/>
            </c:ext>
          </c:extLst>
        </c:ser>
        <c:dLbls>
          <c:dLblPos val="inEnd"/>
          <c:showLegendKey val="0"/>
          <c:showVal val="1"/>
          <c:showCatName val="0"/>
          <c:showSerName val="0"/>
          <c:showPercent val="0"/>
          <c:showBubbleSize val="0"/>
        </c:dLbls>
        <c:gapWidth val="65"/>
        <c:axId val="861291871"/>
        <c:axId val="861293951"/>
      </c:barChart>
      <c:catAx>
        <c:axId val="861291871"/>
        <c:scaling>
          <c:orientation val="minMax"/>
        </c:scaling>
        <c:delete val="0"/>
        <c:axPos val="l"/>
        <c:title>
          <c:tx>
            <c:rich>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IN"/>
                  <a:t>Route ID</a:t>
                </a:r>
              </a:p>
            </c:rich>
          </c:tx>
          <c:layout>
            <c:manualLayout>
              <c:xMode val="edge"/>
              <c:yMode val="edge"/>
              <c:x val="1.2951969044907299E-2"/>
              <c:y val="0.40523695225829115"/>
            </c:manualLayout>
          </c:layout>
          <c:overlay val="0"/>
          <c:spPr>
            <a:noFill/>
            <a:ln>
              <a:noFill/>
            </a:ln>
            <a:effectLst/>
          </c:spPr>
          <c:txPr>
            <a:bodyPr rot="-540000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861293951"/>
        <c:crosses val="autoZero"/>
        <c:auto val="1"/>
        <c:lblAlgn val="ctr"/>
        <c:lblOffset val="100"/>
        <c:noMultiLvlLbl val="0"/>
      </c:catAx>
      <c:valAx>
        <c:axId val="861293951"/>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title>
          <c:tx>
            <c:rich>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r>
                  <a:rPr lang="en-US"/>
                  <a:t>Average Delay in Days</a:t>
                </a:r>
                <a:endParaRPr lang="en-IN"/>
              </a:p>
            </c:rich>
          </c:tx>
          <c:overlay val="0"/>
          <c:spPr>
            <a:noFill/>
            <a:ln>
              <a:noFill/>
            </a:ln>
            <a:effectLst/>
          </c:spPr>
          <c:txPr>
            <a:bodyPr rot="0" spcFirstLastPara="1" vertOverflow="ellipsis" vert="horz" wrap="square" anchor="ctr" anchorCtr="1"/>
            <a:lstStyle/>
            <a:p>
              <a:pPr>
                <a:defRPr sz="1197" b="1" i="0" u="none" strike="noStrike" kern="1200" baseline="0">
                  <a:solidFill>
                    <a:schemeClr val="dk1">
                      <a:lumMod val="75000"/>
                      <a:lumOff val="2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86129187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62" b="1" i="0" u="none" strike="noStrike" baseline="0" dirty="0">
                <a:latin typeface="Arial" panose="020B0604020202020204" pitchFamily="34" charset="0"/>
                <a:cs typeface="Arial" panose="020B0604020202020204" pitchFamily="34" charset="0"/>
              </a:rPr>
              <a:t>Average Traffic Delay by Route</a:t>
            </a:r>
            <a:endParaRPr lang="en-US" b="1" dirty="0">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Avg_Traffic_Delay_mint</c:v>
                </c:pt>
              </c:strCache>
            </c:strRef>
          </c:tx>
          <c:spPr>
            <a:solidFill>
              <a:schemeClr val="accent1"/>
            </a:solidFill>
            <a:ln>
              <a:noFill/>
            </a:ln>
            <a:effectLst/>
          </c:spPr>
          <c:invertIfNegative val="0"/>
          <c:cat>
            <c:strRef>
              <c:f>Sheet1!$A$2:$A$21</c:f>
              <c:strCache>
                <c:ptCount val="20"/>
                <c:pt idx="0">
                  <c:v>R001</c:v>
                </c:pt>
                <c:pt idx="1">
                  <c:v>R002</c:v>
                </c:pt>
                <c:pt idx="2">
                  <c:v>R003</c:v>
                </c:pt>
                <c:pt idx="3">
                  <c:v>R004</c:v>
                </c:pt>
                <c:pt idx="4">
                  <c:v>R005</c:v>
                </c:pt>
                <c:pt idx="5">
                  <c:v>R006</c:v>
                </c:pt>
                <c:pt idx="6">
                  <c:v>R007</c:v>
                </c:pt>
                <c:pt idx="7">
                  <c:v>R008</c:v>
                </c:pt>
                <c:pt idx="8">
                  <c:v>R009</c:v>
                </c:pt>
                <c:pt idx="9">
                  <c:v>R010</c:v>
                </c:pt>
                <c:pt idx="10">
                  <c:v>R011</c:v>
                </c:pt>
                <c:pt idx="11">
                  <c:v>R012</c:v>
                </c:pt>
                <c:pt idx="12">
                  <c:v>R013</c:v>
                </c:pt>
                <c:pt idx="13">
                  <c:v>R014</c:v>
                </c:pt>
                <c:pt idx="14">
                  <c:v>R015</c:v>
                </c:pt>
                <c:pt idx="15">
                  <c:v>R016</c:v>
                </c:pt>
                <c:pt idx="16">
                  <c:v>R017</c:v>
                </c:pt>
                <c:pt idx="17">
                  <c:v>R018</c:v>
                </c:pt>
                <c:pt idx="18">
                  <c:v>R019</c:v>
                </c:pt>
                <c:pt idx="19">
                  <c:v>R020</c:v>
                </c:pt>
              </c:strCache>
            </c:strRef>
          </c:cat>
          <c:val>
            <c:numRef>
              <c:f>Sheet1!$B$2:$B$21</c:f>
              <c:numCache>
                <c:formatCode>General</c:formatCode>
                <c:ptCount val="20"/>
                <c:pt idx="0">
                  <c:v>36</c:v>
                </c:pt>
                <c:pt idx="1">
                  <c:v>22</c:v>
                </c:pt>
                <c:pt idx="2">
                  <c:v>11</c:v>
                </c:pt>
                <c:pt idx="3">
                  <c:v>3</c:v>
                </c:pt>
                <c:pt idx="4">
                  <c:v>26</c:v>
                </c:pt>
                <c:pt idx="5">
                  <c:v>42</c:v>
                </c:pt>
                <c:pt idx="6">
                  <c:v>51</c:v>
                </c:pt>
                <c:pt idx="7">
                  <c:v>34</c:v>
                </c:pt>
                <c:pt idx="8">
                  <c:v>46</c:v>
                </c:pt>
                <c:pt idx="9">
                  <c:v>40</c:v>
                </c:pt>
                <c:pt idx="10">
                  <c:v>25</c:v>
                </c:pt>
                <c:pt idx="11">
                  <c:v>29</c:v>
                </c:pt>
                <c:pt idx="12">
                  <c:v>38</c:v>
                </c:pt>
                <c:pt idx="13">
                  <c:v>58</c:v>
                </c:pt>
                <c:pt idx="14">
                  <c:v>29</c:v>
                </c:pt>
                <c:pt idx="15">
                  <c:v>8</c:v>
                </c:pt>
                <c:pt idx="16">
                  <c:v>8</c:v>
                </c:pt>
                <c:pt idx="17">
                  <c:v>11</c:v>
                </c:pt>
                <c:pt idx="18">
                  <c:v>37</c:v>
                </c:pt>
                <c:pt idx="19">
                  <c:v>23</c:v>
                </c:pt>
              </c:numCache>
            </c:numRef>
          </c:val>
          <c:extLst>
            <c:ext xmlns:c16="http://schemas.microsoft.com/office/drawing/2014/chart" uri="{C3380CC4-5D6E-409C-BE32-E72D297353CC}">
              <c16:uniqueId val="{00000000-4562-4265-901E-611560ADBAD5}"/>
            </c:ext>
          </c:extLst>
        </c:ser>
        <c:dLbls>
          <c:showLegendKey val="0"/>
          <c:showVal val="0"/>
          <c:showCatName val="0"/>
          <c:showSerName val="0"/>
          <c:showPercent val="0"/>
          <c:showBubbleSize val="0"/>
        </c:dLbls>
        <c:gapWidth val="219"/>
        <c:overlap val="-27"/>
        <c:axId val="918952399"/>
        <c:axId val="918957807"/>
      </c:barChart>
      <c:catAx>
        <c:axId val="918952399"/>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b="1" dirty="0"/>
                  <a:t>Route</a:t>
                </a:r>
                <a:r>
                  <a:rPr lang="en-IN" b="1" baseline="0" dirty="0"/>
                  <a:t> _ID</a:t>
                </a:r>
                <a:endParaRPr lang="en-IN" b="1" dirty="0"/>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8957807"/>
        <c:crosses val="autoZero"/>
        <c:auto val="1"/>
        <c:lblAlgn val="ctr"/>
        <c:lblOffset val="100"/>
        <c:noMultiLvlLbl val="0"/>
      </c:catAx>
      <c:valAx>
        <c:axId val="918957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sz="1330" b="1" i="0" u="none" strike="noStrike" baseline="0" dirty="0"/>
                  <a:t>Average Traffic Delay (Minutes</a:t>
                </a:r>
                <a:endParaRPr lang="en-IN" b="1" dirty="0"/>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1895239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2000" b="1" i="0" u="none" strike="noStrike" baseline="0" dirty="0"/>
              <a:t>Distribution of Shipment Delay Reasons</a:t>
            </a:r>
            <a:endParaRPr lang="en-IN" sz="2000"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7.8330177305997242E-2"/>
          <c:y val="0.19811082164915259"/>
          <c:w val="0.84333964538800554"/>
          <c:h val="0.58265960249392623"/>
        </c:manualLayout>
      </c:layout>
      <c:pie3DChart>
        <c:varyColors val="1"/>
        <c:ser>
          <c:idx val="0"/>
          <c:order val="0"/>
          <c:tx>
            <c:strRef>
              <c:f>Sheet1!$B$1</c:f>
              <c:strCache>
                <c:ptCount val="1"/>
                <c:pt idx="0">
                  <c:v>Total_Count</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77F3-44D8-B827-637C71DC3F9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77F3-44D8-B827-637C71DC3F9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77F3-44D8-B827-637C71DC3F9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77F3-44D8-B827-637C71DC3F9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3"/>
                <c:pt idx="0">
                  <c:v>Sorting</c:v>
                </c:pt>
                <c:pt idx="1">
                  <c:v>weather</c:v>
                </c:pt>
                <c:pt idx="2">
                  <c:v>Traffic</c:v>
                </c:pt>
              </c:strCache>
            </c:strRef>
          </c:cat>
          <c:val>
            <c:numRef>
              <c:f>Sheet1!$B$2:$B$5</c:f>
              <c:numCache>
                <c:formatCode>General</c:formatCode>
                <c:ptCount val="4"/>
                <c:pt idx="0">
                  <c:v>272</c:v>
                </c:pt>
                <c:pt idx="1">
                  <c:v>263</c:v>
                </c:pt>
                <c:pt idx="2">
                  <c:v>247</c:v>
                </c:pt>
              </c:numCache>
            </c:numRef>
          </c:val>
          <c:extLst>
            <c:ext xmlns:c16="http://schemas.microsoft.com/office/drawing/2014/chart" uri="{C3380CC4-5D6E-409C-BE32-E72D297353CC}">
              <c16:uniqueId val="{00000000-13A0-470B-A35D-EB497D0F5E71}"/>
            </c:ext>
          </c:extLst>
        </c:ser>
        <c:ser>
          <c:idx val="1"/>
          <c:order val="1"/>
          <c:tx>
            <c:strRef>
              <c:f>Sheet1!$C$1</c:f>
              <c:strCache>
                <c:ptCount val="1"/>
                <c:pt idx="0">
                  <c:v>Column1</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9-77F3-44D8-B827-637C71DC3F95}"/>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B-77F3-44D8-B827-637C71DC3F95}"/>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D-77F3-44D8-B827-637C71DC3F95}"/>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F-77F3-44D8-B827-637C71DC3F95}"/>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3"/>
                <c:pt idx="0">
                  <c:v>Sorting</c:v>
                </c:pt>
                <c:pt idx="1">
                  <c:v>weather</c:v>
                </c:pt>
                <c:pt idx="2">
                  <c:v>Traffic</c:v>
                </c:pt>
              </c:strCache>
            </c:strRef>
          </c:cat>
          <c:val>
            <c:numRef>
              <c:f>Sheet1!$C$2:$C$5</c:f>
              <c:numCache>
                <c:formatCode>General</c:formatCode>
                <c:ptCount val="4"/>
                <c:pt idx="1">
                  <c:v>0</c:v>
                </c:pt>
              </c:numCache>
            </c:numRef>
          </c:val>
          <c:extLst>
            <c:ext xmlns:c16="http://schemas.microsoft.com/office/drawing/2014/chart" uri="{C3380CC4-5D6E-409C-BE32-E72D297353CC}">
              <c16:uniqueId val="{00000002-13A0-470B-A35D-EB497D0F5E71}"/>
            </c:ext>
          </c:extLst>
        </c:ser>
        <c:dLbls>
          <c:dLblPos val="bestFit"/>
          <c:showLegendKey val="0"/>
          <c:showVal val="1"/>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3200" b="1" i="0" u="none" strike="noStrike" baseline="0" dirty="0"/>
              <a:t>Shipments Handled by Warehouse</a:t>
            </a:r>
            <a:endParaRPr lang="en-US" sz="3200" b="1" dirty="0"/>
          </a:p>
        </c:rich>
      </c:tx>
      <c:layout>
        <c:manualLayout>
          <c:xMode val="edge"/>
          <c:yMode val="edge"/>
          <c:x val="0.33236916896517849"/>
          <c:y val="3.71747211895910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Shipments_Handled</c:v>
                </c:pt>
              </c:strCache>
            </c:strRef>
          </c:tx>
          <c:spPr>
            <a:solidFill>
              <a:schemeClr val="accent1"/>
            </a:solidFill>
            <a:ln>
              <a:noFill/>
            </a:ln>
            <a:effectLst/>
          </c:spPr>
          <c:invertIfNegative val="0"/>
          <c:cat>
            <c:strRef>
              <c:f>Sheet1!$A$2:$A$11</c:f>
              <c:strCache>
                <c:ptCount val="10"/>
                <c:pt idx="0">
                  <c:v>W007</c:v>
                </c:pt>
                <c:pt idx="1">
                  <c:v>W006</c:v>
                </c:pt>
                <c:pt idx="2">
                  <c:v>W001</c:v>
                </c:pt>
                <c:pt idx="3">
                  <c:v>W009</c:v>
                </c:pt>
                <c:pt idx="4">
                  <c:v>W004</c:v>
                </c:pt>
                <c:pt idx="5">
                  <c:v>W010</c:v>
                </c:pt>
                <c:pt idx="6">
                  <c:v>W002</c:v>
                </c:pt>
                <c:pt idx="7">
                  <c:v>W005</c:v>
                </c:pt>
                <c:pt idx="8">
                  <c:v>W003</c:v>
                </c:pt>
                <c:pt idx="9">
                  <c:v>W008</c:v>
                </c:pt>
              </c:strCache>
            </c:strRef>
          </c:cat>
          <c:val>
            <c:numRef>
              <c:f>Sheet1!$B$2:$B$11</c:f>
              <c:numCache>
                <c:formatCode>General</c:formatCode>
                <c:ptCount val="10"/>
                <c:pt idx="0">
                  <c:v>38</c:v>
                </c:pt>
                <c:pt idx="1">
                  <c:v>37</c:v>
                </c:pt>
                <c:pt idx="2">
                  <c:v>34</c:v>
                </c:pt>
                <c:pt idx="3">
                  <c:v>33</c:v>
                </c:pt>
                <c:pt idx="4">
                  <c:v>31</c:v>
                </c:pt>
                <c:pt idx="5">
                  <c:v>30</c:v>
                </c:pt>
                <c:pt idx="6">
                  <c:v>28</c:v>
                </c:pt>
                <c:pt idx="7">
                  <c:v>25</c:v>
                </c:pt>
                <c:pt idx="8">
                  <c:v>23</c:v>
                </c:pt>
                <c:pt idx="9">
                  <c:v>21</c:v>
                </c:pt>
              </c:numCache>
            </c:numRef>
          </c:val>
          <c:extLst>
            <c:ext xmlns:c16="http://schemas.microsoft.com/office/drawing/2014/chart" uri="{C3380CC4-5D6E-409C-BE32-E72D297353CC}">
              <c16:uniqueId val="{00000000-FA7D-411B-9AE5-15B39533898F}"/>
            </c:ext>
          </c:extLst>
        </c:ser>
        <c:dLbls>
          <c:showLegendKey val="0"/>
          <c:showVal val="0"/>
          <c:showCatName val="0"/>
          <c:showSerName val="0"/>
          <c:showPercent val="0"/>
          <c:showBubbleSize val="0"/>
        </c:dLbls>
        <c:gapWidth val="219"/>
        <c:overlap val="-27"/>
        <c:axId val="755486767"/>
        <c:axId val="755495503"/>
      </c:barChart>
      <c:catAx>
        <c:axId val="755486767"/>
        <c:scaling>
          <c:orientation val="minMax"/>
        </c:scaling>
        <c:delete val="0"/>
        <c:axPos val="b"/>
        <c:title>
          <c:tx>
            <c:rich>
              <a:bodyPr rot="0" spcFirstLastPara="1" vertOverflow="ellipsis" vert="horz" wrap="square" anchor="ctr" anchorCtr="1"/>
              <a:lstStyle/>
              <a:p>
                <a:pPr>
                  <a:defRPr sz="3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sz="1800" b="1" i="0" u="none" strike="noStrike" baseline="0" dirty="0">
                    <a:latin typeface="Arial" panose="020B0604020202020204" pitchFamily="34" charset="0"/>
                    <a:cs typeface="Arial" panose="020B0604020202020204" pitchFamily="34" charset="0"/>
                  </a:rPr>
                  <a:t>Warehouse ID</a:t>
                </a:r>
                <a:endParaRPr lang="en-IN" sz="1800" b="1" dirty="0">
                  <a:latin typeface="Arial" panose="020B0604020202020204" pitchFamily="34" charset="0"/>
                  <a:cs typeface="Arial" panose="020B0604020202020204" pitchFamily="34" charset="0"/>
                </a:endParaRPr>
              </a:p>
            </c:rich>
          </c:tx>
          <c:layout>
            <c:manualLayout>
              <c:xMode val="edge"/>
              <c:yMode val="edge"/>
              <c:x val="0.28068004749735209"/>
              <c:y val="0.9284875006493124"/>
            </c:manualLayout>
          </c:layout>
          <c:overlay val="0"/>
          <c:spPr>
            <a:noFill/>
            <a:ln>
              <a:noFill/>
            </a:ln>
            <a:effectLst/>
          </c:spPr>
          <c:txPr>
            <a:bodyPr rot="0" spcFirstLastPara="1" vertOverflow="ellipsis" vert="horz" wrap="square" anchor="ctr" anchorCtr="1"/>
            <a:lstStyle/>
            <a:p>
              <a:pPr>
                <a:defRPr sz="3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495503"/>
        <c:crosses val="autoZero"/>
        <c:auto val="1"/>
        <c:lblAlgn val="ctr"/>
        <c:lblOffset val="100"/>
        <c:noMultiLvlLbl val="0"/>
      </c:catAx>
      <c:valAx>
        <c:axId val="7554955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IN" sz="1800" b="1" i="0" baseline="0" dirty="0">
                    <a:effectLst/>
                  </a:rPr>
                  <a:t>Number of Shipments</a:t>
                </a:r>
                <a:endParaRPr lang="en-IN" dirty="0">
                  <a:effectLst/>
                </a:endParaRPr>
              </a:p>
            </c:rich>
          </c:tx>
          <c:layout>
            <c:manualLayout>
              <c:xMode val="edge"/>
              <c:yMode val="edge"/>
              <c:x val="1.583018438822003E-2"/>
              <c:y val="0.31106870005561571"/>
            </c:manualLayout>
          </c:layout>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55486767"/>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7/22/2026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7/22/2026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7/22/2026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7/22/2026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oom.com/share/86fa42d3d8964e2196ccfcfd69b85e9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Logistics%20SQL%20Project%20ppt.pptx.pptx#-1,1,Logistics Optimization for Delivery Routes using SQL :UPS ..."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D486F-9342-4071-8993-62CA0F639C88}"/>
              </a:ext>
            </a:extLst>
          </p:cNvPr>
          <p:cNvSpPr>
            <a:spLocks noGrp="1"/>
          </p:cNvSpPr>
          <p:nvPr>
            <p:ph type="ctrTitle"/>
          </p:nvPr>
        </p:nvSpPr>
        <p:spPr>
          <a:xfrm>
            <a:off x="928468" y="717452"/>
            <a:ext cx="8967739" cy="2883877"/>
          </a:xfrm>
        </p:spPr>
        <p:txBody>
          <a:bodyPr/>
          <a:lstStyle/>
          <a:p>
            <a:pPr algn="ctr"/>
            <a:r>
              <a:rPr lang="en-US" sz="4400" dirty="0">
                <a:latin typeface="Arial" panose="020B0604020202020204" pitchFamily="34" charset="0"/>
                <a:cs typeface="Arial" panose="020B0604020202020204" pitchFamily="34" charset="0"/>
              </a:rPr>
              <a:t>Logistics Optimization for Delivery Routes using SQL :UPS Logistics</a:t>
            </a:r>
            <a:br>
              <a:rPr lang="en-US" sz="2400" dirty="0"/>
            </a:br>
            <a:endParaRPr lang="en-IN" sz="2400" dirty="0"/>
          </a:p>
        </p:txBody>
      </p:sp>
      <p:sp>
        <p:nvSpPr>
          <p:cNvPr id="3" name="Subtitle 2">
            <a:extLst>
              <a:ext uri="{FF2B5EF4-FFF2-40B4-BE49-F238E27FC236}">
                <a16:creationId xmlns:a16="http://schemas.microsoft.com/office/drawing/2014/main" id="{C3FB8E73-6710-47FA-A722-42E9AAB04DFC}"/>
              </a:ext>
            </a:extLst>
          </p:cNvPr>
          <p:cNvSpPr>
            <a:spLocks noGrp="1"/>
          </p:cNvSpPr>
          <p:nvPr>
            <p:ph type="subTitle" idx="1"/>
          </p:nvPr>
        </p:nvSpPr>
        <p:spPr>
          <a:xfrm>
            <a:off x="1683171" y="4519472"/>
            <a:ext cx="8802741" cy="1536944"/>
          </a:xfrm>
        </p:spPr>
        <p:txBody>
          <a:bodyPr>
            <a:noAutofit/>
          </a:bodyPr>
          <a:lstStyle/>
          <a:p>
            <a:r>
              <a:rPr lang="en-US" dirty="0" err="1">
                <a:latin typeface="Arial" panose="020B0604020202020204" pitchFamily="34" charset="0"/>
                <a:cs typeface="Arial" panose="020B0604020202020204" pitchFamily="34" charset="0"/>
              </a:rPr>
              <a:t>pRepared</a:t>
            </a:r>
            <a:r>
              <a:rPr lang="en-US" dirty="0">
                <a:latin typeface="Arial" panose="020B0604020202020204" pitchFamily="34" charset="0"/>
                <a:cs typeface="Arial" panose="020B0604020202020204" pitchFamily="34" charset="0"/>
              </a:rPr>
              <a:t> by - Ratan Ghanghoriya</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Course Name –Data Science </a:t>
            </a:r>
            <a:r>
              <a:rPr lang="en-US" dirty="0" err="1">
                <a:latin typeface="Arial" panose="020B0604020202020204" pitchFamily="34" charset="0"/>
                <a:cs typeface="Arial" panose="020B0604020202020204" pitchFamily="34" charset="0"/>
              </a:rPr>
              <a:t>programe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Project Title - Logistics Optimization for Delivery Routes – UPS </a:t>
            </a:r>
          </a:p>
          <a:p>
            <a:r>
              <a:rPr lang="en-IN" dirty="0">
                <a:latin typeface="Arial" panose="020B0604020202020204" pitchFamily="34" charset="0"/>
                <a:cs typeface="Arial" panose="020B0604020202020204" pitchFamily="34" charset="0"/>
                <a:hlinkClick r:id="rId2"/>
              </a:rPr>
              <a:t>https://www.loom.com/share/86fa42d3d8964e2196ccfcfd69b85e9e</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7752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D77C-5ACB-45DD-AAC7-2D5CDEF0110C}"/>
              </a:ext>
            </a:extLst>
          </p:cNvPr>
          <p:cNvSpPr>
            <a:spLocks noGrp="1"/>
          </p:cNvSpPr>
          <p:nvPr>
            <p:ph type="title"/>
          </p:nvPr>
        </p:nvSpPr>
        <p:spPr/>
        <p:txBody>
          <a:bodyPr/>
          <a:lstStyle/>
          <a:p>
            <a:pPr algn="ctr"/>
            <a:r>
              <a:rPr lang="en-IN" dirty="0">
                <a:latin typeface="Arial" panose="020B0604020202020204" pitchFamily="34" charset="0"/>
                <a:cs typeface="Arial" panose="020B0604020202020204" pitchFamily="34" charset="0"/>
              </a:rPr>
              <a:t>Project Objective</a:t>
            </a:r>
          </a:p>
        </p:txBody>
      </p:sp>
      <p:sp>
        <p:nvSpPr>
          <p:cNvPr id="3" name="Content Placeholder 2">
            <a:extLst>
              <a:ext uri="{FF2B5EF4-FFF2-40B4-BE49-F238E27FC236}">
                <a16:creationId xmlns:a16="http://schemas.microsoft.com/office/drawing/2014/main" id="{8DC085D2-7D07-4CA3-B6DC-ACE4EADEBCEE}"/>
              </a:ext>
            </a:extLst>
          </p:cNvPr>
          <p:cNvSpPr>
            <a:spLocks noGrp="1"/>
          </p:cNvSpPr>
          <p:nvPr>
            <p:ph idx="1"/>
          </p:nvPr>
        </p:nvSpPr>
        <p:spPr>
          <a:xfrm>
            <a:off x="958007" y="3124004"/>
            <a:ext cx="8825659" cy="2896968"/>
          </a:xfrm>
        </p:spPr>
        <p:txBody>
          <a:bodyPr>
            <a:normAutofit/>
          </a:bodyPr>
          <a:lstStyle/>
          <a:p>
            <a:r>
              <a:rPr lang="en-US" dirty="0">
                <a:latin typeface="Arial" panose="020B0604020202020204" pitchFamily="34" charset="0"/>
                <a:cs typeface="Arial" panose="020B0604020202020204" pitchFamily="34" charset="0"/>
              </a:rPr>
              <a:t>To analyze delivery performance.</a:t>
            </a:r>
          </a:p>
          <a:p>
            <a:r>
              <a:rPr lang="en-US" dirty="0">
                <a:latin typeface="Arial" panose="020B0604020202020204" pitchFamily="34" charset="0"/>
                <a:cs typeface="Arial" panose="020B0604020202020204" pitchFamily="34" charset="0"/>
              </a:rPr>
              <a:t>Identify delays route.</a:t>
            </a:r>
          </a:p>
          <a:p>
            <a:r>
              <a:rPr lang="en-US" dirty="0">
                <a:latin typeface="Arial" panose="020B0604020202020204" pitchFamily="34" charset="0"/>
                <a:cs typeface="Arial" panose="020B0604020202020204" pitchFamily="34" charset="0"/>
              </a:rPr>
              <a:t>Evaluate warehouse efficiency.</a:t>
            </a:r>
          </a:p>
          <a:p>
            <a:r>
              <a:rPr lang="en-US" dirty="0">
                <a:latin typeface="Arial" panose="020B0604020202020204" pitchFamily="34" charset="0"/>
                <a:cs typeface="Arial" panose="020B0604020202020204" pitchFamily="34" charset="0"/>
              </a:rPr>
              <a:t>Measure delivery agent performance.</a:t>
            </a:r>
          </a:p>
          <a:p>
            <a:r>
              <a:rPr lang="en-US" dirty="0">
                <a:latin typeface="Arial" panose="020B0604020202020204" pitchFamily="34" charset="0"/>
                <a:cs typeface="Arial" panose="020B0604020202020204" pitchFamily="34" charset="0"/>
              </a:rPr>
              <a:t>Recommended business improvement</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4068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99E4C-946A-4E51-957B-320A61CC9DEE}"/>
              </a:ext>
            </a:extLst>
          </p:cNvPr>
          <p:cNvSpPr>
            <a:spLocks noGrp="1"/>
          </p:cNvSpPr>
          <p:nvPr>
            <p:ph type="title"/>
          </p:nvPr>
        </p:nvSpPr>
        <p:spPr/>
        <p:txBody>
          <a:bodyPr/>
          <a:lstStyle/>
          <a:p>
            <a:pPr algn="ctr"/>
            <a:r>
              <a:rPr lang="en-IN" dirty="0">
                <a:latin typeface="Arial" panose="020B0604020202020204" pitchFamily="34" charset="0"/>
                <a:cs typeface="Arial" panose="020B0604020202020204" pitchFamily="34" charset="0"/>
              </a:rPr>
              <a:t>Dataset Used</a:t>
            </a:r>
          </a:p>
        </p:txBody>
      </p:sp>
      <p:sp>
        <p:nvSpPr>
          <p:cNvPr id="3" name="Content Placeholder 2">
            <a:extLst>
              <a:ext uri="{FF2B5EF4-FFF2-40B4-BE49-F238E27FC236}">
                <a16:creationId xmlns:a16="http://schemas.microsoft.com/office/drawing/2014/main" id="{65C0D887-E459-4E05-A88D-0E3AE5DC7FB2}"/>
              </a:ext>
            </a:extLst>
          </p:cNvPr>
          <p:cNvSpPr>
            <a:spLocks noGrp="1"/>
          </p:cNvSpPr>
          <p:nvPr>
            <p:ph idx="1"/>
          </p:nvPr>
        </p:nvSpPr>
        <p:spPr/>
        <p:txBody>
          <a:bodyPr/>
          <a:lstStyle/>
          <a:p>
            <a:r>
              <a:rPr lang="en-US" dirty="0">
                <a:latin typeface="Arial" panose="020B0604020202020204" pitchFamily="34" charset="0"/>
                <a:cs typeface="Arial" panose="020B0604020202020204" pitchFamily="34" charset="0"/>
              </a:rPr>
              <a:t>Tables Used: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1. orders – 300 records</a:t>
            </a:r>
          </a:p>
          <a:p>
            <a:r>
              <a:rPr lang="en-US" dirty="0">
                <a:latin typeface="Arial" panose="020B0604020202020204" pitchFamily="34" charset="0"/>
                <a:cs typeface="Arial" panose="020B0604020202020204" pitchFamily="34" charset="0"/>
              </a:rPr>
              <a:t>2. routes – 20 records</a:t>
            </a:r>
          </a:p>
          <a:p>
            <a:r>
              <a:rPr lang="en-US" dirty="0">
                <a:latin typeface="Arial" panose="020B0604020202020204" pitchFamily="34" charset="0"/>
                <a:cs typeface="Arial" panose="020B0604020202020204" pitchFamily="34" charset="0"/>
              </a:rPr>
              <a:t>3. delivery agents -50 records</a:t>
            </a:r>
          </a:p>
          <a:p>
            <a:r>
              <a:rPr lang="en-US" dirty="0">
                <a:latin typeface="Arial" panose="020B0604020202020204" pitchFamily="34" charset="0"/>
                <a:cs typeface="Arial" panose="020B0604020202020204" pitchFamily="34" charset="0"/>
              </a:rPr>
              <a:t>4. warehouses -10 records</a:t>
            </a:r>
          </a:p>
          <a:p>
            <a:r>
              <a:rPr lang="en-US" dirty="0">
                <a:latin typeface="Arial" panose="020B0604020202020204" pitchFamily="34" charset="0"/>
                <a:cs typeface="Arial" panose="020B0604020202020204" pitchFamily="34" charset="0"/>
              </a:rPr>
              <a:t>5. shipment tracking -  1040  records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7735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354B-7B15-4E66-9BD2-D754AA043263}"/>
              </a:ext>
            </a:extLst>
          </p:cNvPr>
          <p:cNvSpPr>
            <a:spLocks noGrp="1"/>
          </p:cNvSpPr>
          <p:nvPr>
            <p:ph type="title"/>
          </p:nvPr>
        </p:nvSpPr>
        <p:spPr>
          <a:xfrm>
            <a:off x="1154954" y="973668"/>
            <a:ext cx="8761413" cy="706964"/>
          </a:xfrm>
        </p:spPr>
        <p:txBody>
          <a:bodyPr/>
          <a:lstStyle/>
          <a:p>
            <a:r>
              <a:rPr lang="en-IN" dirty="0"/>
              <a:t>-- =========================-- TASK 1: DATA CLEANING =========================</a:t>
            </a:r>
          </a:p>
        </p:txBody>
      </p:sp>
      <p:sp>
        <p:nvSpPr>
          <p:cNvPr id="3" name="Content Placeholder 2">
            <a:extLst>
              <a:ext uri="{FF2B5EF4-FFF2-40B4-BE49-F238E27FC236}">
                <a16:creationId xmlns:a16="http://schemas.microsoft.com/office/drawing/2014/main" id="{D3C92920-7EF6-44CE-9311-570559388D3F}"/>
              </a:ext>
            </a:extLst>
          </p:cNvPr>
          <p:cNvSpPr>
            <a:spLocks noGrp="1"/>
          </p:cNvSpPr>
          <p:nvPr>
            <p:ph idx="1"/>
          </p:nvPr>
        </p:nvSpPr>
        <p:spPr>
          <a:xfrm>
            <a:off x="381000" y="2293034"/>
            <a:ext cx="11421794" cy="5134708"/>
          </a:xfrm>
        </p:spPr>
        <p:txBody>
          <a:bodyPr>
            <a:normAutofit/>
          </a:bodyPr>
          <a:lstStyle/>
          <a:p>
            <a:pPr marL="0" indent="0">
              <a:buNone/>
            </a:pPr>
            <a:r>
              <a:rPr lang="en-US" dirty="0"/>
              <a:t>  </a:t>
            </a:r>
            <a:r>
              <a:rPr lang="en-US" sz="1500" dirty="0">
                <a:latin typeface="Arial" panose="020B0604020202020204" pitchFamily="34" charset="0"/>
                <a:cs typeface="Arial" panose="020B0604020202020204" pitchFamily="34" charset="0"/>
              </a:rPr>
              <a:t>1 </a:t>
            </a:r>
            <a:r>
              <a:rPr lang="en-US" b="1" dirty="0">
                <a:latin typeface="Arial" panose="020B0604020202020204" pitchFamily="34" charset="0"/>
                <a:cs typeface="Arial" panose="020B0604020202020204" pitchFamily="34" charset="0"/>
              </a:rPr>
              <a:t>.  Find duplicate </a:t>
            </a:r>
            <a:r>
              <a:rPr lang="en-US" b="1" dirty="0" err="1">
                <a:latin typeface="Arial" panose="020B0604020202020204" pitchFamily="34" charset="0"/>
                <a:cs typeface="Arial" panose="020B0604020202020204" pitchFamily="34" charset="0"/>
              </a:rPr>
              <a:t>Order_ID</a:t>
            </a:r>
            <a:r>
              <a:rPr lang="en-US" b="1" dirty="0">
                <a:latin typeface="Arial" panose="020B0604020202020204" pitchFamily="34" charset="0"/>
                <a:cs typeface="Arial" panose="020B0604020202020204" pitchFamily="34" charset="0"/>
              </a:rPr>
              <a:t> </a:t>
            </a:r>
          </a:p>
          <a:p>
            <a:r>
              <a:rPr lang="en-US" sz="1500" dirty="0">
                <a:latin typeface="Arial" panose="020B0604020202020204" pitchFamily="34" charset="0"/>
                <a:cs typeface="Arial" panose="020B0604020202020204" pitchFamily="34" charset="0"/>
              </a:rPr>
              <a:t>;</a:t>
            </a:r>
          </a:p>
          <a:p>
            <a:pPr marL="0" indent="0">
              <a:buNone/>
            </a:pPr>
            <a:endParaRPr lang="en-IN" sz="56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a:p>
            <a:pPr marL="0" indent="0">
              <a:buNone/>
            </a:pPr>
            <a:r>
              <a:rPr lang="en-IN" sz="1500" dirty="0">
                <a:latin typeface="Arial" panose="020B0604020202020204" pitchFamily="34" charset="0"/>
                <a:cs typeface="Arial" panose="020B0604020202020204" pitchFamily="34" charset="0"/>
              </a:rPr>
              <a:t>      2   </a:t>
            </a:r>
            <a:r>
              <a:rPr lang="en-IN" b="1" dirty="0">
                <a:latin typeface="Arial" panose="020B0604020202020204" pitchFamily="34" charset="0"/>
                <a:cs typeface="Arial" panose="020B0604020202020204" pitchFamily="34" charset="0"/>
              </a:rPr>
              <a:t>. Replace NULL </a:t>
            </a:r>
            <a:r>
              <a:rPr lang="en-IN" b="1" dirty="0" err="1">
                <a:latin typeface="Arial" panose="020B0604020202020204" pitchFamily="34" charset="0"/>
                <a:cs typeface="Arial" panose="020B0604020202020204" pitchFamily="34" charset="0"/>
              </a:rPr>
              <a:t>Traffic_Delay_Min</a:t>
            </a:r>
            <a:r>
              <a:rPr lang="en-IN" b="1" dirty="0">
                <a:latin typeface="Arial" panose="020B0604020202020204" pitchFamily="34" charset="0"/>
                <a:cs typeface="Arial" panose="020B0604020202020204" pitchFamily="34" charset="0"/>
              </a:rPr>
              <a:t> with route average</a:t>
            </a:r>
          </a:p>
          <a:p>
            <a:endParaRPr lang="en-IN" sz="5600" dirty="0">
              <a:latin typeface="Arial" panose="020B0604020202020204" pitchFamily="34" charset="0"/>
              <a:cs typeface="Arial" panose="020B0604020202020204" pitchFamily="34" charset="0"/>
            </a:endParaRPr>
          </a:p>
          <a:p>
            <a:endParaRPr lang="en-IN" sz="5600" dirty="0">
              <a:latin typeface="Arial" panose="020B0604020202020204" pitchFamily="34" charset="0"/>
              <a:cs typeface="Arial" panose="020B0604020202020204" pitchFamily="34" charset="0"/>
            </a:endParaRPr>
          </a:p>
          <a:p>
            <a:pPr marL="0" indent="0">
              <a:buNone/>
            </a:pPr>
            <a:endParaRPr lang="en-IN" sz="5600" dirty="0">
              <a:latin typeface="Arial" panose="020B0604020202020204" pitchFamily="34" charset="0"/>
              <a:cs typeface="Arial" panose="020B0604020202020204" pitchFamily="34" charset="0"/>
            </a:endParaRPr>
          </a:p>
          <a:p>
            <a:endParaRPr lang="en-IN" sz="5600" dirty="0">
              <a:latin typeface="Arial" panose="020B0604020202020204" pitchFamily="34" charset="0"/>
              <a:cs typeface="Arial" panose="020B0604020202020204" pitchFamily="34" charset="0"/>
            </a:endParaRPr>
          </a:p>
          <a:p>
            <a:endParaRPr lang="en-IN" sz="56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2126009-3709-42A7-B352-FD4990D9ABA2}"/>
              </a:ext>
            </a:extLst>
          </p:cNvPr>
          <p:cNvPicPr>
            <a:picLocks noChangeAspect="1"/>
          </p:cNvPicPr>
          <p:nvPr/>
        </p:nvPicPr>
        <p:blipFill>
          <a:blip r:embed="rId2"/>
          <a:stretch>
            <a:fillRect/>
          </a:stretch>
        </p:blipFill>
        <p:spPr>
          <a:xfrm>
            <a:off x="5614427" y="2556142"/>
            <a:ext cx="3839077" cy="1085372"/>
          </a:xfrm>
          <a:prstGeom prst="rect">
            <a:avLst/>
          </a:prstGeom>
        </p:spPr>
      </p:pic>
      <p:sp>
        <p:nvSpPr>
          <p:cNvPr id="4" name="Rectangle 1">
            <a:extLst>
              <a:ext uri="{FF2B5EF4-FFF2-40B4-BE49-F238E27FC236}">
                <a16:creationId xmlns:a16="http://schemas.microsoft.com/office/drawing/2014/main" id="{67A23BEE-E078-4018-A95F-FA297A39AD2F}"/>
              </a:ext>
            </a:extLst>
          </p:cNvPr>
          <p:cNvSpPr>
            <a:spLocks noChangeArrowheads="1"/>
          </p:cNvSpPr>
          <p:nvPr/>
        </p:nvSpPr>
        <p:spPr bwMode="auto">
          <a:xfrm>
            <a:off x="635882" y="3789205"/>
            <a:ext cx="9957090" cy="1523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Business Insight:</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The Orders table has unique Order IDs. This shows that there are no duplicate transactions, so the data is accurate and reliable for reporting.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Recommendation:</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No action is required. Keep the Order IDs unique when importing new data in the future</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7" name="Picture 6">
            <a:extLst>
              <a:ext uri="{FF2B5EF4-FFF2-40B4-BE49-F238E27FC236}">
                <a16:creationId xmlns:a16="http://schemas.microsoft.com/office/drawing/2014/main" id="{3CCE9B2C-6E8E-4461-B4D9-A3C99F21E982}"/>
              </a:ext>
            </a:extLst>
          </p:cNvPr>
          <p:cNvPicPr>
            <a:picLocks noChangeAspect="1"/>
          </p:cNvPicPr>
          <p:nvPr/>
        </p:nvPicPr>
        <p:blipFill>
          <a:blip r:embed="rId3"/>
          <a:stretch>
            <a:fillRect/>
          </a:stretch>
        </p:blipFill>
        <p:spPr>
          <a:xfrm>
            <a:off x="797538" y="2631360"/>
            <a:ext cx="4400352" cy="1321717"/>
          </a:xfrm>
          <a:prstGeom prst="rect">
            <a:avLst/>
          </a:prstGeom>
        </p:spPr>
      </p:pic>
    </p:spTree>
    <p:extLst>
      <p:ext uri="{BB962C8B-B14F-4D97-AF65-F5344CB8AC3E}">
        <p14:creationId xmlns:p14="http://schemas.microsoft.com/office/powerpoint/2010/main" val="108584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3E49B-3162-4CA2-A6D4-E20F8169686B}"/>
              </a:ext>
            </a:extLst>
          </p:cNvPr>
          <p:cNvSpPr>
            <a:spLocks noGrp="1"/>
          </p:cNvSpPr>
          <p:nvPr>
            <p:ph type="title"/>
          </p:nvPr>
        </p:nvSpPr>
        <p:spPr/>
        <p:txBody>
          <a:bodyPr/>
          <a:lstStyle/>
          <a:p>
            <a:r>
              <a:rPr lang="en-US" dirty="0"/>
              <a:t>TASK 1 TO CONTINUE…..</a:t>
            </a:r>
            <a:endParaRPr lang="en-IN" dirty="0"/>
          </a:p>
        </p:txBody>
      </p:sp>
      <p:pic>
        <p:nvPicPr>
          <p:cNvPr id="4" name="Content Placeholder 3">
            <a:extLst>
              <a:ext uri="{FF2B5EF4-FFF2-40B4-BE49-F238E27FC236}">
                <a16:creationId xmlns:a16="http://schemas.microsoft.com/office/drawing/2014/main" id="{96353AB8-C2DF-40CD-8311-629A8D323D86}"/>
              </a:ext>
            </a:extLst>
          </p:cNvPr>
          <p:cNvPicPr>
            <a:picLocks noGrp="1" noChangeAspect="1"/>
          </p:cNvPicPr>
          <p:nvPr>
            <p:ph idx="1"/>
          </p:nvPr>
        </p:nvPicPr>
        <p:blipFill>
          <a:blip r:embed="rId2"/>
          <a:stretch>
            <a:fillRect/>
          </a:stretch>
        </p:blipFill>
        <p:spPr>
          <a:xfrm>
            <a:off x="534572" y="1834806"/>
            <a:ext cx="6935373" cy="2497175"/>
          </a:xfrm>
          <a:prstGeom prst="rect">
            <a:avLst/>
          </a:prstGeom>
        </p:spPr>
      </p:pic>
      <p:pic>
        <p:nvPicPr>
          <p:cNvPr id="5" name="Picture 4">
            <a:extLst>
              <a:ext uri="{FF2B5EF4-FFF2-40B4-BE49-F238E27FC236}">
                <a16:creationId xmlns:a16="http://schemas.microsoft.com/office/drawing/2014/main" id="{3100304C-0486-4605-8071-EE232563662A}"/>
              </a:ext>
            </a:extLst>
          </p:cNvPr>
          <p:cNvPicPr>
            <a:picLocks noChangeAspect="1"/>
          </p:cNvPicPr>
          <p:nvPr/>
        </p:nvPicPr>
        <p:blipFill>
          <a:blip r:embed="rId3"/>
          <a:stretch>
            <a:fillRect/>
          </a:stretch>
        </p:blipFill>
        <p:spPr>
          <a:xfrm>
            <a:off x="585227" y="4331981"/>
            <a:ext cx="11021545" cy="1304655"/>
          </a:xfrm>
          <a:prstGeom prst="rect">
            <a:avLst/>
          </a:prstGeom>
        </p:spPr>
      </p:pic>
      <p:pic>
        <p:nvPicPr>
          <p:cNvPr id="6" name="Picture 5">
            <a:extLst>
              <a:ext uri="{FF2B5EF4-FFF2-40B4-BE49-F238E27FC236}">
                <a16:creationId xmlns:a16="http://schemas.microsoft.com/office/drawing/2014/main" id="{64136466-D618-4DD7-91F8-C3CC0896D947}"/>
              </a:ext>
            </a:extLst>
          </p:cNvPr>
          <p:cNvPicPr>
            <a:picLocks noChangeAspect="1"/>
          </p:cNvPicPr>
          <p:nvPr/>
        </p:nvPicPr>
        <p:blipFill>
          <a:blip r:embed="rId4"/>
          <a:stretch>
            <a:fillRect/>
          </a:stretch>
        </p:blipFill>
        <p:spPr>
          <a:xfrm>
            <a:off x="534572" y="5636636"/>
            <a:ext cx="11021545" cy="845546"/>
          </a:xfrm>
          <a:prstGeom prst="rect">
            <a:avLst/>
          </a:prstGeom>
        </p:spPr>
      </p:pic>
    </p:spTree>
    <p:extLst>
      <p:ext uri="{BB962C8B-B14F-4D97-AF65-F5344CB8AC3E}">
        <p14:creationId xmlns:p14="http://schemas.microsoft.com/office/powerpoint/2010/main" val="194800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9E721-4416-4FA2-978D-C28BDCC825A7}"/>
              </a:ext>
            </a:extLst>
          </p:cNvPr>
          <p:cNvSpPr>
            <a:spLocks noGrp="1"/>
          </p:cNvSpPr>
          <p:nvPr>
            <p:ph type="title"/>
          </p:nvPr>
        </p:nvSpPr>
        <p:spPr/>
        <p:txBody>
          <a:bodyPr/>
          <a:lstStyle/>
          <a:p>
            <a:r>
              <a:rPr lang="en-US" dirty="0"/>
              <a:t>TASK 1 TO CONTINUE…..</a:t>
            </a:r>
            <a:endParaRPr lang="en-IN" dirty="0"/>
          </a:p>
        </p:txBody>
      </p:sp>
      <p:sp>
        <p:nvSpPr>
          <p:cNvPr id="3" name="Content Placeholder 2">
            <a:extLst>
              <a:ext uri="{FF2B5EF4-FFF2-40B4-BE49-F238E27FC236}">
                <a16:creationId xmlns:a16="http://schemas.microsoft.com/office/drawing/2014/main" id="{4829B100-DDBC-409D-B3CB-F0A9E3FC51F7}"/>
              </a:ext>
            </a:extLst>
          </p:cNvPr>
          <p:cNvSpPr>
            <a:spLocks noGrp="1"/>
          </p:cNvSpPr>
          <p:nvPr>
            <p:ph idx="1"/>
          </p:nvPr>
        </p:nvSpPr>
        <p:spPr>
          <a:xfrm>
            <a:off x="365760" y="1983544"/>
            <a:ext cx="11451102" cy="5401994"/>
          </a:xfrm>
        </p:spPr>
        <p:txBody>
          <a:bodyPr>
            <a:normAutofit/>
          </a:bodyPr>
          <a:lstStyle/>
          <a:p>
            <a:pPr marL="0" indent="0">
              <a:buNone/>
            </a:pPr>
            <a:endParaRPr lang="en-IN" sz="18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Business Insight:</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Routes dataset has complete traffic delay information. There are no missing values, so the data is reliable for traffic analysis.</a:t>
            </a:r>
          </a:p>
          <a:p>
            <a:r>
              <a:rPr lang="en-US" sz="1600" b="1" dirty="0">
                <a:latin typeface="Arial" panose="020B0604020202020204" pitchFamily="34" charset="0"/>
                <a:cs typeface="Arial" panose="020B0604020202020204" pitchFamily="34" charset="0"/>
              </a:rPr>
              <a:t>Recommendation:</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No action is required. Continue checking new data to make sure it stays complete and accurate.</a:t>
            </a:r>
            <a:endParaRPr lang="en-IN" sz="1600" dirty="0">
              <a:latin typeface="Arial" panose="020B0604020202020204" pitchFamily="34" charset="0"/>
              <a:cs typeface="Arial" panose="020B0604020202020204" pitchFamily="34" charset="0"/>
            </a:endParaRPr>
          </a:p>
          <a:p>
            <a:r>
              <a:rPr lang="en-IN" sz="1900" b="1" dirty="0">
                <a:latin typeface="Arial" panose="020B0604020202020204" pitchFamily="34" charset="0"/>
                <a:cs typeface="Arial" panose="020B0604020202020204" pitchFamily="34" charset="0"/>
              </a:rPr>
              <a:t>3. Convert date columns into YYYY-MM-DD format</a:t>
            </a:r>
          </a:p>
          <a:p>
            <a:endParaRPr lang="en-IN" dirty="0">
              <a:latin typeface="Arial" panose="020B0604020202020204" pitchFamily="34" charset="0"/>
              <a:cs typeface="Arial" panose="020B0604020202020204" pitchFamily="34" charset="0"/>
            </a:endParaRPr>
          </a:p>
          <a:p>
            <a:pPr marL="0" indent="0">
              <a:buNone/>
            </a:pPr>
            <a:r>
              <a:rPr lang="en-IN" sz="1600" dirty="0">
                <a:latin typeface="Arial" panose="020B0604020202020204" pitchFamily="34" charset="0"/>
                <a:cs typeface="Arial" panose="020B0604020202020204" pitchFamily="34" charset="0"/>
              </a:rPr>
              <a:t> </a:t>
            </a:r>
            <a:endParaRPr lang="en-IN" dirty="0"/>
          </a:p>
        </p:txBody>
      </p:sp>
      <p:pic>
        <p:nvPicPr>
          <p:cNvPr id="8" name="Picture 7">
            <a:extLst>
              <a:ext uri="{FF2B5EF4-FFF2-40B4-BE49-F238E27FC236}">
                <a16:creationId xmlns:a16="http://schemas.microsoft.com/office/drawing/2014/main" id="{9D729024-A974-4667-BCBE-87C8A3326C15}"/>
              </a:ext>
            </a:extLst>
          </p:cNvPr>
          <p:cNvPicPr>
            <a:picLocks noChangeAspect="1"/>
          </p:cNvPicPr>
          <p:nvPr/>
        </p:nvPicPr>
        <p:blipFill>
          <a:blip r:embed="rId2"/>
          <a:stretch>
            <a:fillRect/>
          </a:stretch>
        </p:blipFill>
        <p:spPr>
          <a:xfrm>
            <a:off x="613093" y="4471550"/>
            <a:ext cx="9437225" cy="1704167"/>
          </a:xfrm>
          <a:prstGeom prst="rect">
            <a:avLst/>
          </a:prstGeom>
        </p:spPr>
      </p:pic>
      <p:pic>
        <p:nvPicPr>
          <p:cNvPr id="10" name="Picture 9">
            <a:extLst>
              <a:ext uri="{FF2B5EF4-FFF2-40B4-BE49-F238E27FC236}">
                <a16:creationId xmlns:a16="http://schemas.microsoft.com/office/drawing/2014/main" id="{16C22340-093A-4430-8868-AFB10DC7C65C}"/>
              </a:ext>
            </a:extLst>
          </p:cNvPr>
          <p:cNvPicPr>
            <a:picLocks noChangeAspect="1"/>
          </p:cNvPicPr>
          <p:nvPr/>
        </p:nvPicPr>
        <p:blipFill>
          <a:blip r:embed="rId3"/>
          <a:stretch>
            <a:fillRect/>
          </a:stretch>
        </p:blipFill>
        <p:spPr>
          <a:xfrm>
            <a:off x="239151" y="6156942"/>
            <a:ext cx="8662353" cy="397086"/>
          </a:xfrm>
          <a:prstGeom prst="rect">
            <a:avLst/>
          </a:prstGeom>
        </p:spPr>
      </p:pic>
    </p:spTree>
    <p:extLst>
      <p:ext uri="{BB962C8B-B14F-4D97-AF65-F5344CB8AC3E}">
        <p14:creationId xmlns:p14="http://schemas.microsoft.com/office/powerpoint/2010/main" val="2084427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F4AD5-EE27-4A91-8BEA-E98761857FD8}"/>
              </a:ext>
            </a:extLst>
          </p:cNvPr>
          <p:cNvSpPr>
            <a:spLocks noGrp="1"/>
          </p:cNvSpPr>
          <p:nvPr>
            <p:ph type="title"/>
          </p:nvPr>
        </p:nvSpPr>
        <p:spPr>
          <a:xfrm>
            <a:off x="1154954" y="999068"/>
            <a:ext cx="8761413" cy="706964"/>
          </a:xfrm>
        </p:spPr>
        <p:txBody>
          <a:bodyPr/>
          <a:lstStyle/>
          <a:p>
            <a:r>
              <a:rPr lang="en-US" dirty="0"/>
              <a:t>TASK 1 TO CONTINUE…..</a:t>
            </a:r>
            <a:endParaRPr lang="en-IN" dirty="0"/>
          </a:p>
        </p:txBody>
      </p:sp>
      <p:sp>
        <p:nvSpPr>
          <p:cNvPr id="3" name="Content Placeholder 2">
            <a:extLst>
              <a:ext uri="{FF2B5EF4-FFF2-40B4-BE49-F238E27FC236}">
                <a16:creationId xmlns:a16="http://schemas.microsoft.com/office/drawing/2014/main" id="{8ED3EE85-148A-453F-9BBA-6DA5C5F774E8}"/>
              </a:ext>
            </a:extLst>
          </p:cNvPr>
          <p:cNvSpPr>
            <a:spLocks noGrp="1"/>
          </p:cNvSpPr>
          <p:nvPr>
            <p:ph idx="1"/>
          </p:nvPr>
        </p:nvSpPr>
        <p:spPr>
          <a:xfrm>
            <a:off x="590842" y="2039815"/>
            <a:ext cx="10635175" cy="7132320"/>
          </a:xfrm>
        </p:spPr>
        <p:txBody>
          <a:bodyPr>
            <a:normAutofit/>
          </a:bodyPr>
          <a:lstStyle/>
          <a:p>
            <a:endParaRPr lang="en-US" sz="1200" dirty="0"/>
          </a:p>
          <a:p>
            <a:r>
              <a:rPr lang="en-US" sz="1600" b="1" dirty="0">
                <a:latin typeface="Arial" panose="020B0604020202020204" pitchFamily="34" charset="0"/>
                <a:cs typeface="Arial" panose="020B0604020202020204" pitchFamily="34" charset="0"/>
              </a:rPr>
              <a:t>Business Insight:</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Using the same date format makes the data consistent and helps avoid errors in date calculations, monthly reports, delivery delay analysis, and KPI reporting.</a:t>
            </a:r>
          </a:p>
          <a:p>
            <a:r>
              <a:rPr lang="en-US" sz="1600" b="1" dirty="0">
                <a:latin typeface="Arial" panose="020B0604020202020204" pitchFamily="34" charset="0"/>
                <a:cs typeface="Arial" panose="020B0604020202020204" pitchFamily="34" charset="0"/>
              </a:rPr>
              <a:t>Recommendation:</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YYYY-MM-DD</a:t>
            </a:r>
            <a:r>
              <a:rPr lang="en-US" sz="1600" dirty="0">
                <a:latin typeface="Arial" panose="020B0604020202020204" pitchFamily="34" charset="0"/>
                <a:cs typeface="Arial" panose="020B0604020202020204" pitchFamily="34" charset="0"/>
              </a:rPr>
              <a:t> date format for all future data imports to keep the data accurate and avoid reporting errors.</a:t>
            </a:r>
          </a:p>
          <a:p>
            <a:pPr marL="0" indent="0">
              <a:buNone/>
            </a:pPr>
            <a:r>
              <a:rPr lang="en-US" sz="1600" dirty="0">
                <a:latin typeface="Arial" panose="020B0604020202020204" pitchFamily="34" charset="0"/>
                <a:cs typeface="Arial" panose="020B0604020202020204" pitchFamily="34" charset="0"/>
              </a:rPr>
              <a:t>4.</a:t>
            </a:r>
            <a:r>
              <a:rPr lang="en-US" sz="1600" b="1" dirty="0">
                <a:latin typeface="Arial" panose="020B0604020202020204" pitchFamily="34" charset="0"/>
                <a:cs typeface="Arial" panose="020B0604020202020204" pitchFamily="34" charset="0"/>
              </a:rPr>
              <a:t>    </a:t>
            </a:r>
            <a:r>
              <a:rPr lang="en-IN" sz="1600" b="1" dirty="0">
                <a:latin typeface="Arial" panose="020B0604020202020204" pitchFamily="34" charset="0"/>
                <a:cs typeface="Arial" panose="020B0604020202020204" pitchFamily="34" charset="0"/>
              </a:rPr>
              <a:t>Add flag column for invalid data</a:t>
            </a:r>
          </a:p>
          <a:p>
            <a:pPr marL="0" indent="0">
              <a:buNone/>
            </a:pPr>
            <a:r>
              <a:rPr lang="en-IN" sz="160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p>
            <a:endParaRPr lang="en-US" sz="1600" dirty="0"/>
          </a:p>
          <a:p>
            <a:endParaRPr lang="en-US" sz="1600" dirty="0"/>
          </a:p>
          <a:p>
            <a:endParaRPr lang="en-US" sz="1600" b="1" dirty="0">
              <a:latin typeface="Arial" panose="020B0604020202020204" pitchFamily="34" charset="0"/>
              <a:cs typeface="Arial" panose="020B0604020202020204" pitchFamily="34" charset="0"/>
            </a:endParaRPr>
          </a:p>
          <a:p>
            <a:endParaRPr lang="en-US" sz="6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82BFC32B-4A73-4339-BB6E-71D1DCBF249B}"/>
              </a:ext>
            </a:extLst>
          </p:cNvPr>
          <p:cNvPicPr>
            <a:picLocks noChangeAspect="1"/>
          </p:cNvPicPr>
          <p:nvPr/>
        </p:nvPicPr>
        <p:blipFill>
          <a:blip r:embed="rId2"/>
          <a:stretch>
            <a:fillRect/>
          </a:stretch>
        </p:blipFill>
        <p:spPr>
          <a:xfrm>
            <a:off x="449842" y="4667631"/>
            <a:ext cx="9355340" cy="2190369"/>
          </a:xfrm>
          <a:prstGeom prst="rect">
            <a:avLst/>
          </a:prstGeom>
        </p:spPr>
      </p:pic>
    </p:spTree>
    <p:extLst>
      <p:ext uri="{BB962C8B-B14F-4D97-AF65-F5344CB8AC3E}">
        <p14:creationId xmlns:p14="http://schemas.microsoft.com/office/powerpoint/2010/main" val="1200544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31FC6-9DE9-416A-B5E3-D4B47ED0CC1F}"/>
              </a:ext>
            </a:extLst>
          </p:cNvPr>
          <p:cNvSpPr>
            <a:spLocks noGrp="1"/>
          </p:cNvSpPr>
          <p:nvPr>
            <p:ph type="title"/>
          </p:nvPr>
        </p:nvSpPr>
        <p:spPr/>
        <p:txBody>
          <a:bodyPr/>
          <a:lstStyle/>
          <a:p>
            <a:r>
              <a:rPr lang="en-US" dirty="0"/>
              <a:t>TASK 1 TO CONTINUE…..</a:t>
            </a:r>
            <a:endParaRPr lang="en-IN" dirty="0"/>
          </a:p>
        </p:txBody>
      </p:sp>
      <p:pic>
        <p:nvPicPr>
          <p:cNvPr id="6" name="Content Placeholder 5">
            <a:extLst>
              <a:ext uri="{FF2B5EF4-FFF2-40B4-BE49-F238E27FC236}">
                <a16:creationId xmlns:a16="http://schemas.microsoft.com/office/drawing/2014/main" id="{3509F5BB-1695-436A-A3D8-3354900EB080}"/>
              </a:ext>
            </a:extLst>
          </p:cNvPr>
          <p:cNvPicPr>
            <a:picLocks noGrp="1" noChangeAspect="1"/>
          </p:cNvPicPr>
          <p:nvPr>
            <p:ph idx="1"/>
          </p:nvPr>
        </p:nvPicPr>
        <p:blipFill>
          <a:blip r:embed="rId2"/>
          <a:stretch>
            <a:fillRect/>
          </a:stretch>
        </p:blipFill>
        <p:spPr>
          <a:xfrm>
            <a:off x="632126" y="2219156"/>
            <a:ext cx="9763899" cy="1818272"/>
          </a:xfrm>
          <a:prstGeom prst="rect">
            <a:avLst/>
          </a:prstGeom>
        </p:spPr>
      </p:pic>
      <p:sp>
        <p:nvSpPr>
          <p:cNvPr id="8" name="TextBox 7">
            <a:extLst>
              <a:ext uri="{FF2B5EF4-FFF2-40B4-BE49-F238E27FC236}">
                <a16:creationId xmlns:a16="http://schemas.microsoft.com/office/drawing/2014/main" id="{75EFFCAE-0AAC-4FB7-99BA-FFA321805CC2}"/>
              </a:ext>
            </a:extLst>
          </p:cNvPr>
          <p:cNvSpPr txBox="1"/>
          <p:nvPr/>
        </p:nvSpPr>
        <p:spPr>
          <a:xfrm>
            <a:off x="632126" y="4135682"/>
            <a:ext cx="10509486" cy="1708160"/>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dataset passed the date validation check. No invalid delivery dates were found, so the data is reliable for delivery delay analysis, KPI calculations, and performance reporting.</a:t>
            </a:r>
          </a:p>
          <a:p>
            <a:endParaRPr lang="en-US" sz="1500" b="1"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Use automatic date validation during data entry or data import (ETL) to keep future records accurate and maintain data quality</a:t>
            </a:r>
            <a:endParaRPr lang="en-IN" sz="1500" dirty="0"/>
          </a:p>
        </p:txBody>
      </p:sp>
    </p:spTree>
    <p:extLst>
      <p:ext uri="{BB962C8B-B14F-4D97-AF65-F5344CB8AC3E}">
        <p14:creationId xmlns:p14="http://schemas.microsoft.com/office/powerpoint/2010/main" val="579977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77BC3-39D5-405E-B163-9F10103D4852}"/>
              </a:ext>
            </a:extLst>
          </p:cNvPr>
          <p:cNvSpPr>
            <a:spLocks noGrp="1"/>
          </p:cNvSpPr>
          <p:nvPr>
            <p:ph type="title"/>
          </p:nvPr>
        </p:nvSpPr>
        <p:spPr/>
        <p:txBody>
          <a:bodyPr/>
          <a:lstStyle/>
          <a:p>
            <a:pPr algn="ctr"/>
            <a:r>
              <a:rPr lang="en-US" dirty="0"/>
              <a:t>TASK 2: DELIVERY DELAY ANALYSIS</a:t>
            </a:r>
            <a:endParaRPr lang="en-IN" dirty="0"/>
          </a:p>
        </p:txBody>
      </p:sp>
      <p:sp>
        <p:nvSpPr>
          <p:cNvPr id="3" name="Content Placeholder 2">
            <a:extLst>
              <a:ext uri="{FF2B5EF4-FFF2-40B4-BE49-F238E27FC236}">
                <a16:creationId xmlns:a16="http://schemas.microsoft.com/office/drawing/2014/main" id="{BAB53572-DE5C-4331-9A92-E17C31479B44}"/>
              </a:ext>
            </a:extLst>
          </p:cNvPr>
          <p:cNvSpPr>
            <a:spLocks noGrp="1"/>
          </p:cNvSpPr>
          <p:nvPr>
            <p:ph idx="1"/>
          </p:nvPr>
        </p:nvSpPr>
        <p:spPr>
          <a:xfrm>
            <a:off x="533400" y="1866900"/>
            <a:ext cx="11150600" cy="4991100"/>
          </a:xfrm>
        </p:spPr>
        <p:txBody>
          <a:bodyPr>
            <a:normAutofit/>
          </a:bodyPr>
          <a:lstStyle/>
          <a:p>
            <a:pPr marL="0" indent="0">
              <a:buNone/>
            </a:pPr>
            <a:r>
              <a:rPr lang="en-US" dirty="0"/>
              <a:t> </a:t>
            </a:r>
          </a:p>
          <a:p>
            <a:pPr marL="0" indent="0">
              <a:buNone/>
            </a:pPr>
            <a:r>
              <a:rPr lang="en-US" sz="1500" b="1" dirty="0">
                <a:latin typeface="Arial" panose="020B0604020202020204" pitchFamily="34" charset="0"/>
                <a:cs typeface="Arial" panose="020B0604020202020204" pitchFamily="34" charset="0"/>
              </a:rPr>
              <a:t>1. Calculate delivery delay for each order (in days)</a:t>
            </a:r>
          </a:p>
          <a:p>
            <a:pPr marL="0" indent="0">
              <a:buNone/>
            </a:pPr>
            <a:r>
              <a:rPr lang="en-US" sz="1400" dirty="0">
                <a:latin typeface="Arial" panose="020B0604020202020204" pitchFamily="34" charset="0"/>
                <a:cs typeface="Arial" panose="020B0604020202020204" pitchFamily="34" charset="0"/>
              </a:rPr>
              <a:t>    </a:t>
            </a:r>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a:p>
            <a:pPr marL="0" indent="0">
              <a:buNone/>
            </a:pPr>
            <a:endParaRPr lang="en-US" sz="1400" dirty="0"/>
          </a:p>
          <a:p>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delivery delay has been calculated for each order. This helps identify orders that took longer to deliver. High delivery delays may show problems in the delivery process.</a:t>
            </a:r>
          </a:p>
          <a:p>
            <a:endParaRPr lang="en-IN" sz="1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90AFD91-858A-4343-BC85-11DE87067116}"/>
              </a:ext>
            </a:extLst>
          </p:cNvPr>
          <p:cNvPicPr>
            <a:picLocks noChangeAspect="1"/>
          </p:cNvPicPr>
          <p:nvPr/>
        </p:nvPicPr>
        <p:blipFill>
          <a:blip r:embed="rId2"/>
          <a:stretch>
            <a:fillRect/>
          </a:stretch>
        </p:blipFill>
        <p:spPr>
          <a:xfrm>
            <a:off x="550043" y="4240818"/>
            <a:ext cx="8579889" cy="1317380"/>
          </a:xfrm>
          <a:prstGeom prst="rect">
            <a:avLst/>
          </a:prstGeom>
        </p:spPr>
      </p:pic>
      <p:pic>
        <p:nvPicPr>
          <p:cNvPr id="6" name="Picture 5">
            <a:extLst>
              <a:ext uri="{FF2B5EF4-FFF2-40B4-BE49-F238E27FC236}">
                <a16:creationId xmlns:a16="http://schemas.microsoft.com/office/drawing/2014/main" id="{9200D5FA-A8BF-41A8-B1D5-B291D3B8CC17}"/>
              </a:ext>
            </a:extLst>
          </p:cNvPr>
          <p:cNvPicPr>
            <a:picLocks noChangeAspect="1"/>
          </p:cNvPicPr>
          <p:nvPr/>
        </p:nvPicPr>
        <p:blipFill>
          <a:blip r:embed="rId3"/>
          <a:stretch>
            <a:fillRect/>
          </a:stretch>
        </p:blipFill>
        <p:spPr>
          <a:xfrm>
            <a:off x="717452" y="2579942"/>
            <a:ext cx="8117059" cy="1429350"/>
          </a:xfrm>
          <a:prstGeom prst="rect">
            <a:avLst/>
          </a:prstGeom>
        </p:spPr>
      </p:pic>
    </p:spTree>
    <p:extLst>
      <p:ext uri="{BB962C8B-B14F-4D97-AF65-F5344CB8AC3E}">
        <p14:creationId xmlns:p14="http://schemas.microsoft.com/office/powerpoint/2010/main" val="723755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79613-C736-4C53-86D9-E9635AFE2344}"/>
              </a:ext>
            </a:extLst>
          </p:cNvPr>
          <p:cNvSpPr>
            <a:spLocks noGrp="1"/>
          </p:cNvSpPr>
          <p:nvPr>
            <p:ph type="title"/>
          </p:nvPr>
        </p:nvSpPr>
        <p:spPr/>
        <p:txBody>
          <a:bodyPr/>
          <a:lstStyle/>
          <a:p>
            <a:r>
              <a:rPr lang="en-US" dirty="0"/>
              <a:t>TASK 2 TO CONTINUE…..</a:t>
            </a:r>
            <a:endParaRPr lang="en-IN" dirty="0"/>
          </a:p>
        </p:txBody>
      </p:sp>
      <p:sp>
        <p:nvSpPr>
          <p:cNvPr id="3" name="Content Placeholder 2">
            <a:extLst>
              <a:ext uri="{FF2B5EF4-FFF2-40B4-BE49-F238E27FC236}">
                <a16:creationId xmlns:a16="http://schemas.microsoft.com/office/drawing/2014/main" id="{81D1C371-B71D-4692-AE5C-EA96E853C51A}"/>
              </a:ext>
            </a:extLst>
          </p:cNvPr>
          <p:cNvSpPr>
            <a:spLocks noGrp="1"/>
          </p:cNvSpPr>
          <p:nvPr>
            <p:ph idx="1"/>
          </p:nvPr>
        </p:nvSpPr>
        <p:spPr>
          <a:xfrm>
            <a:off x="965982" y="3391292"/>
            <a:ext cx="10174460" cy="1391725"/>
          </a:xfrm>
        </p:spPr>
        <p:txBody>
          <a:bodyPr/>
          <a:lstStyle/>
          <a:p>
            <a:r>
              <a:rPr lang="en-US" sz="2000" b="1" dirty="0">
                <a:latin typeface="Arial" panose="020B0604020202020204" pitchFamily="34" charset="0"/>
                <a:cs typeface="Arial" panose="020B0604020202020204" pitchFamily="34" charset="0"/>
              </a:rPr>
              <a:t>2. Top 10 delayed routes based on average delay</a:t>
            </a:r>
          </a:p>
          <a:p>
            <a:endParaRPr lang="en-IN" dirty="0"/>
          </a:p>
        </p:txBody>
      </p:sp>
      <p:sp>
        <p:nvSpPr>
          <p:cNvPr id="5" name="TextBox 4">
            <a:extLst>
              <a:ext uri="{FF2B5EF4-FFF2-40B4-BE49-F238E27FC236}">
                <a16:creationId xmlns:a16="http://schemas.microsoft.com/office/drawing/2014/main" id="{E591765B-D9C5-4B79-96F8-E44812E58C65}"/>
              </a:ext>
            </a:extLst>
          </p:cNvPr>
          <p:cNvSpPr txBox="1"/>
          <p:nvPr/>
        </p:nvSpPr>
        <p:spPr>
          <a:xfrm>
            <a:off x="787791" y="2508795"/>
            <a:ext cx="10438227" cy="923330"/>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Recommendation:</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Regularly monitor orders with high delivery delays. Check their routes, traffic conditions, and warehouse processing time to help reduce future delays.</a:t>
            </a:r>
          </a:p>
        </p:txBody>
      </p:sp>
      <p:pic>
        <p:nvPicPr>
          <p:cNvPr id="7" name="Picture 6">
            <a:extLst>
              <a:ext uri="{FF2B5EF4-FFF2-40B4-BE49-F238E27FC236}">
                <a16:creationId xmlns:a16="http://schemas.microsoft.com/office/drawing/2014/main" id="{FF051299-D7F3-4832-89BA-0BBDC7372F62}"/>
              </a:ext>
            </a:extLst>
          </p:cNvPr>
          <p:cNvPicPr>
            <a:picLocks noChangeAspect="1"/>
          </p:cNvPicPr>
          <p:nvPr/>
        </p:nvPicPr>
        <p:blipFill>
          <a:blip r:embed="rId2"/>
          <a:stretch>
            <a:fillRect/>
          </a:stretch>
        </p:blipFill>
        <p:spPr>
          <a:xfrm>
            <a:off x="880405" y="3798181"/>
            <a:ext cx="9768837" cy="1391725"/>
          </a:xfrm>
          <a:prstGeom prst="rect">
            <a:avLst/>
          </a:prstGeom>
        </p:spPr>
      </p:pic>
      <p:pic>
        <p:nvPicPr>
          <p:cNvPr id="8" name="Content Placeholder 4">
            <a:extLst>
              <a:ext uri="{FF2B5EF4-FFF2-40B4-BE49-F238E27FC236}">
                <a16:creationId xmlns:a16="http://schemas.microsoft.com/office/drawing/2014/main" id="{5C3D54C7-D7F2-4EC8-BC64-5530D2E12818}"/>
              </a:ext>
            </a:extLst>
          </p:cNvPr>
          <p:cNvPicPr>
            <a:picLocks noChangeAspect="1"/>
          </p:cNvPicPr>
          <p:nvPr/>
        </p:nvPicPr>
        <p:blipFill>
          <a:blip r:embed="rId3"/>
          <a:stretch>
            <a:fillRect/>
          </a:stretch>
        </p:blipFill>
        <p:spPr>
          <a:xfrm>
            <a:off x="457200" y="5457070"/>
            <a:ext cx="10683242" cy="1126610"/>
          </a:xfrm>
          <a:prstGeom prst="rect">
            <a:avLst/>
          </a:prstGeom>
        </p:spPr>
      </p:pic>
    </p:spTree>
    <p:extLst>
      <p:ext uri="{BB962C8B-B14F-4D97-AF65-F5344CB8AC3E}">
        <p14:creationId xmlns:p14="http://schemas.microsoft.com/office/powerpoint/2010/main" val="1594516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1F2C5-2837-49FF-8E62-C4521AC2C84D}"/>
              </a:ext>
            </a:extLst>
          </p:cNvPr>
          <p:cNvSpPr>
            <a:spLocks noGrp="1"/>
          </p:cNvSpPr>
          <p:nvPr>
            <p:ph type="title"/>
          </p:nvPr>
        </p:nvSpPr>
        <p:spPr/>
        <p:txBody>
          <a:bodyPr/>
          <a:lstStyle/>
          <a:p>
            <a:r>
              <a:rPr lang="en-US" sz="3000" dirty="0">
                <a:latin typeface="Arial" panose="020B0604020202020204" pitchFamily="34" charset="0"/>
                <a:cs typeface="Arial" panose="020B0604020202020204" pitchFamily="34" charset="0"/>
              </a:rPr>
              <a:t>Top 10 Delayed Routes (Average Delay in Days)</a:t>
            </a:r>
            <a:endParaRPr lang="en-IN" sz="3000" dirty="0">
              <a:latin typeface="Arial" panose="020B0604020202020204" pitchFamily="34" charset="0"/>
              <a:cs typeface="Arial" panose="020B0604020202020204" pitchFamily="34" charset="0"/>
            </a:endParaRPr>
          </a:p>
        </p:txBody>
      </p:sp>
      <p:graphicFrame>
        <p:nvGraphicFramePr>
          <p:cNvPr id="6" name="Content Placeholder 5">
            <a:extLst>
              <a:ext uri="{FF2B5EF4-FFF2-40B4-BE49-F238E27FC236}">
                <a16:creationId xmlns:a16="http://schemas.microsoft.com/office/drawing/2014/main" id="{B6B64E2B-4685-4C42-BFAE-4131F6DDE458}"/>
              </a:ext>
            </a:extLst>
          </p:cNvPr>
          <p:cNvGraphicFramePr>
            <a:graphicFrameLocks noGrp="1"/>
          </p:cNvGraphicFramePr>
          <p:nvPr>
            <p:ph idx="1"/>
            <p:extLst>
              <p:ext uri="{D42A27DB-BD31-4B8C-83A1-F6EECF244321}">
                <p14:modId xmlns:p14="http://schemas.microsoft.com/office/powerpoint/2010/main" val="565467895"/>
              </p:ext>
            </p:extLst>
          </p:nvPr>
        </p:nvGraphicFramePr>
        <p:xfrm>
          <a:off x="534572" y="2700997"/>
          <a:ext cx="10128739" cy="3712693"/>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3">
            <a:extLst>
              <a:ext uri="{FF2B5EF4-FFF2-40B4-BE49-F238E27FC236}">
                <a16:creationId xmlns:a16="http://schemas.microsoft.com/office/drawing/2014/main" id="{E682A3EA-2CD1-4D6B-ADF7-B8AE4998726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Average Delay (Days)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654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29BA0-1207-4EAE-8714-5D2CDA56D5DD}"/>
              </a:ext>
            </a:extLst>
          </p:cNvPr>
          <p:cNvSpPr>
            <a:spLocks noGrp="1"/>
          </p:cNvSpPr>
          <p:nvPr>
            <p:ph type="title"/>
          </p:nvPr>
        </p:nvSpPr>
        <p:spPr/>
        <p:txBody>
          <a:bodyPr/>
          <a:lstStyle/>
          <a:p>
            <a:r>
              <a:rPr lang="en-US" dirty="0"/>
              <a:t>TASK 2 TO CONTINUE…..</a:t>
            </a:r>
            <a:endParaRPr lang="en-IN" dirty="0"/>
          </a:p>
        </p:txBody>
      </p:sp>
      <p:sp>
        <p:nvSpPr>
          <p:cNvPr id="3" name="Content Placeholder 2">
            <a:extLst>
              <a:ext uri="{FF2B5EF4-FFF2-40B4-BE49-F238E27FC236}">
                <a16:creationId xmlns:a16="http://schemas.microsoft.com/office/drawing/2014/main" id="{1503E06E-66B2-4621-A86B-D9396B354798}"/>
              </a:ext>
            </a:extLst>
          </p:cNvPr>
          <p:cNvSpPr>
            <a:spLocks noGrp="1"/>
          </p:cNvSpPr>
          <p:nvPr>
            <p:ph idx="1"/>
          </p:nvPr>
        </p:nvSpPr>
        <p:spPr/>
        <p:txBody>
          <a:bodyPr>
            <a:normAutofit fontScale="92500" lnSpcReduction="10000"/>
          </a:bodyPr>
          <a:lstStyle/>
          <a:p>
            <a:r>
              <a:rPr lang="en-US" b="1" dirty="0">
                <a:latin typeface="Arial" panose="020B0604020202020204" pitchFamily="34" charset="0"/>
                <a:cs typeface="Arial" panose="020B0604020202020204" pitchFamily="34" charset="0"/>
              </a:rPr>
              <a:t>Business Insight</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Route </a:t>
            </a:r>
            <a:r>
              <a:rPr lang="en-US" b="1" dirty="0">
                <a:latin typeface="Arial" panose="020B0604020202020204" pitchFamily="34" charset="0"/>
                <a:cs typeface="Arial" panose="020B0604020202020204" pitchFamily="34" charset="0"/>
              </a:rPr>
              <a:t>R012</a:t>
            </a:r>
            <a:r>
              <a:rPr lang="en-US" dirty="0">
                <a:latin typeface="Arial" panose="020B0604020202020204" pitchFamily="34" charset="0"/>
                <a:cs typeface="Arial" panose="020B0604020202020204" pitchFamily="34" charset="0"/>
              </a:rPr>
              <a:t> has the highest average delivery delay (</a:t>
            </a:r>
            <a:r>
              <a:rPr lang="en-US" b="1" dirty="0">
                <a:latin typeface="Arial" panose="020B0604020202020204" pitchFamily="34" charset="0"/>
                <a:cs typeface="Arial" panose="020B0604020202020204" pitchFamily="34" charset="0"/>
              </a:rPr>
              <a:t>1.08 days</a:t>
            </a:r>
            <a:r>
              <a:rPr lang="en-US" dirty="0">
                <a:latin typeface="Arial" panose="020B0604020202020204" pitchFamily="34" charset="0"/>
                <a:cs typeface="Arial" panose="020B0604020202020204" pitchFamily="34" charset="0"/>
              </a:rPr>
              <a:t>). </a:t>
            </a:r>
          </a:p>
          <a:p>
            <a:pPr>
              <a:buFont typeface="Arial" panose="020B0604020202020204" pitchFamily="34" charset="0"/>
              <a:buChar char="•"/>
            </a:pPr>
            <a:r>
              <a:rPr lang="en-US" dirty="0">
                <a:latin typeface="Arial" panose="020B0604020202020204" pitchFamily="34" charset="0"/>
                <a:cs typeface="Arial" panose="020B0604020202020204" pitchFamily="34" charset="0"/>
              </a:rPr>
              <a:t>Route </a:t>
            </a:r>
            <a:r>
              <a:rPr lang="en-US" b="1" dirty="0">
                <a:latin typeface="Arial" panose="020B0604020202020204" pitchFamily="34" charset="0"/>
                <a:cs typeface="Arial" panose="020B0604020202020204" pitchFamily="34" charset="0"/>
              </a:rPr>
              <a:t>R020</a:t>
            </a:r>
            <a:r>
              <a:rPr lang="en-US" dirty="0">
                <a:latin typeface="Arial" panose="020B0604020202020204" pitchFamily="34" charset="0"/>
                <a:cs typeface="Arial" panose="020B0604020202020204" pitchFamily="34" charset="0"/>
              </a:rPr>
              <a:t> has the second-highest average delay (</a:t>
            </a:r>
            <a:r>
              <a:rPr lang="en-US" b="1" dirty="0">
                <a:latin typeface="Arial" panose="020B0604020202020204" pitchFamily="34" charset="0"/>
                <a:cs typeface="Arial" panose="020B0604020202020204" pitchFamily="34" charset="0"/>
              </a:rPr>
              <a:t>1.06 days</a:t>
            </a:r>
            <a:r>
              <a:rPr lang="en-US" dirty="0">
                <a:latin typeface="Arial" panose="020B0604020202020204" pitchFamily="34" charset="0"/>
                <a:cs typeface="Arial" panose="020B0604020202020204" pitchFamily="34" charset="0"/>
              </a:rPr>
              <a:t>). </a:t>
            </a:r>
          </a:p>
          <a:p>
            <a:pPr>
              <a:buFont typeface="Arial" panose="020B0604020202020204" pitchFamily="34" charset="0"/>
              <a:buChar char="•"/>
            </a:pPr>
            <a:r>
              <a:rPr lang="en-US" dirty="0">
                <a:latin typeface="Arial" panose="020B0604020202020204" pitchFamily="34" charset="0"/>
                <a:cs typeface="Arial" panose="020B0604020202020204" pitchFamily="34" charset="0"/>
              </a:rPr>
              <a:t>These routes take longer than other routes and should be prioritized for improvement. </a:t>
            </a:r>
          </a:p>
          <a:p>
            <a:r>
              <a:rPr lang="en-US" b="1" dirty="0">
                <a:latin typeface="Arial" panose="020B0604020202020204" pitchFamily="34" charset="0"/>
                <a:cs typeface="Arial" panose="020B0604020202020204" pitchFamily="34" charset="0"/>
              </a:rPr>
              <a:t>Recommendation</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Optimize delivery schedules. </a:t>
            </a:r>
          </a:p>
          <a:p>
            <a:pPr>
              <a:buFont typeface="Arial" panose="020B0604020202020204" pitchFamily="34" charset="0"/>
              <a:buChar char="•"/>
            </a:pPr>
            <a:r>
              <a:rPr lang="en-US" dirty="0">
                <a:latin typeface="Arial" panose="020B0604020202020204" pitchFamily="34" charset="0"/>
                <a:cs typeface="Arial" panose="020B0604020202020204" pitchFamily="34" charset="0"/>
              </a:rPr>
              <a:t>Monitor traffic conditions on these routes. </a:t>
            </a:r>
          </a:p>
          <a:p>
            <a:pPr>
              <a:buFont typeface="Arial" panose="020B0604020202020204" pitchFamily="34" charset="0"/>
              <a:buChar char="•"/>
            </a:pPr>
            <a:r>
              <a:rPr lang="en-US" dirty="0">
                <a:latin typeface="Arial" panose="020B0604020202020204" pitchFamily="34" charset="0"/>
                <a:cs typeface="Arial" panose="020B0604020202020204" pitchFamily="34" charset="0"/>
              </a:rPr>
              <a:t>Improve warehouse coordination. </a:t>
            </a:r>
          </a:p>
          <a:p>
            <a:pPr>
              <a:buFont typeface="Arial" panose="020B0604020202020204" pitchFamily="34" charset="0"/>
              <a:buChar char="•"/>
            </a:pPr>
            <a:r>
              <a:rPr lang="en-US" dirty="0">
                <a:latin typeface="Arial" panose="020B0604020202020204" pitchFamily="34" charset="0"/>
                <a:cs typeface="Arial" panose="020B0604020202020204" pitchFamily="34" charset="0"/>
              </a:rPr>
              <a:t>Review route planning regularly to reduce delivery delays. </a:t>
            </a:r>
          </a:p>
          <a:p>
            <a:endParaRPr lang="en-IN" dirty="0"/>
          </a:p>
        </p:txBody>
      </p:sp>
    </p:spTree>
    <p:extLst>
      <p:ext uri="{BB962C8B-B14F-4D97-AF65-F5344CB8AC3E}">
        <p14:creationId xmlns:p14="http://schemas.microsoft.com/office/powerpoint/2010/main" val="3087257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276C-95A2-49A0-B1AE-6BBE1E399F3A}"/>
              </a:ext>
            </a:extLst>
          </p:cNvPr>
          <p:cNvSpPr>
            <a:spLocks noGrp="1"/>
          </p:cNvSpPr>
          <p:nvPr>
            <p:ph type="title"/>
          </p:nvPr>
        </p:nvSpPr>
        <p:spPr/>
        <p:txBody>
          <a:bodyPr/>
          <a:lstStyle/>
          <a:p>
            <a:r>
              <a:rPr lang="en-US" dirty="0"/>
              <a:t>TASK 2 TO CONTINUE…..</a:t>
            </a:r>
            <a:endParaRPr lang="en-IN" dirty="0"/>
          </a:p>
        </p:txBody>
      </p:sp>
      <p:sp>
        <p:nvSpPr>
          <p:cNvPr id="12" name="Rectangle 3">
            <a:extLst>
              <a:ext uri="{FF2B5EF4-FFF2-40B4-BE49-F238E27FC236}">
                <a16:creationId xmlns:a16="http://schemas.microsoft.com/office/drawing/2014/main" id="{44D88704-E48C-4FE7-8797-6CE97B8CC1D9}"/>
              </a:ext>
            </a:extLst>
          </p:cNvPr>
          <p:cNvSpPr>
            <a:spLocks noChangeArrowheads="1"/>
          </p:cNvSpPr>
          <p:nvPr/>
        </p:nvSpPr>
        <p:spPr bwMode="auto">
          <a:xfrm>
            <a:off x="304800" y="410290"/>
            <a:ext cx="54694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Result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4">
            <a:extLst>
              <a:ext uri="{FF2B5EF4-FFF2-40B4-BE49-F238E27FC236}">
                <a16:creationId xmlns:a16="http://schemas.microsoft.com/office/drawing/2014/main" id="{C44BB8FA-369C-4958-9732-CF03D5205E91}"/>
              </a:ext>
            </a:extLst>
          </p:cNvPr>
          <p:cNvSpPr>
            <a:spLocks noChangeArrowheads="1"/>
          </p:cNvSpPr>
          <p:nvPr/>
        </p:nvSpPr>
        <p:spPr bwMode="auto">
          <a:xfrm>
            <a:off x="457200" y="424190"/>
            <a:ext cx="23166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Result: the most in each warehouse.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TextBox 19">
            <a:extLst>
              <a:ext uri="{FF2B5EF4-FFF2-40B4-BE49-F238E27FC236}">
                <a16:creationId xmlns:a16="http://schemas.microsoft.com/office/drawing/2014/main" id="{88EE8844-EC82-4137-B398-D9CED12DDBD6}"/>
              </a:ext>
            </a:extLst>
          </p:cNvPr>
          <p:cNvSpPr txBox="1"/>
          <p:nvPr/>
        </p:nvSpPr>
        <p:spPr>
          <a:xfrm>
            <a:off x="647114" y="4032128"/>
            <a:ext cx="8383591" cy="323165"/>
          </a:xfrm>
          <a:prstGeom prst="rect">
            <a:avLst/>
          </a:prstGeom>
          <a:noFill/>
        </p:spPr>
        <p:txBody>
          <a:bodyPr wrap="square">
            <a:spAutoFit/>
          </a:bodyPr>
          <a:lstStyle/>
          <a:p>
            <a:r>
              <a:rPr lang="en-IN" sz="1500" b="1" dirty="0">
                <a:latin typeface="Arial" panose="020B0604020202020204" pitchFamily="34" charset="0"/>
                <a:cs typeface="Arial" panose="020B0604020202020204" pitchFamily="34" charset="0"/>
              </a:rPr>
              <a:t>3. Rank all orders by delay within each warehouse</a:t>
            </a:r>
          </a:p>
        </p:txBody>
      </p:sp>
      <p:sp>
        <p:nvSpPr>
          <p:cNvPr id="11" name="TextBox 10">
            <a:extLst>
              <a:ext uri="{FF2B5EF4-FFF2-40B4-BE49-F238E27FC236}">
                <a16:creationId xmlns:a16="http://schemas.microsoft.com/office/drawing/2014/main" id="{96276889-63CD-4CA7-A78B-8E7F6CA712D2}"/>
              </a:ext>
            </a:extLst>
          </p:cNvPr>
          <p:cNvSpPr txBox="1"/>
          <p:nvPr/>
        </p:nvSpPr>
        <p:spPr>
          <a:xfrm>
            <a:off x="647114" y="2307676"/>
            <a:ext cx="10986868" cy="2400657"/>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top 10 routes have the highest average delivery delays. These routes may have regular traffic or delivery problems and could be causing more late deliveries, which can affect customer satisfaction </a:t>
            </a:r>
          </a:p>
          <a:p>
            <a:endParaRPr lang="en-US" sz="1500" b="1"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Check these routes for traffic, warehouse processing time, and delivery schedules. Improving these routes can help reduce delivery delays and make the delivery process more efficient.</a:t>
            </a:r>
          </a:p>
          <a:p>
            <a:endParaRPr lang="en-US" sz="15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a:p>
            <a:endParaRPr lang="en-US" sz="15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E18ADD4D-A706-48ED-BA9B-11F98A7C6A0E}"/>
              </a:ext>
            </a:extLst>
          </p:cNvPr>
          <p:cNvPicPr>
            <a:picLocks noChangeAspect="1"/>
          </p:cNvPicPr>
          <p:nvPr/>
        </p:nvPicPr>
        <p:blipFill>
          <a:blip r:embed="rId2"/>
          <a:stretch>
            <a:fillRect/>
          </a:stretch>
        </p:blipFill>
        <p:spPr>
          <a:xfrm>
            <a:off x="785007" y="4453152"/>
            <a:ext cx="10497281" cy="2400657"/>
          </a:xfrm>
          <a:prstGeom prst="rect">
            <a:avLst/>
          </a:prstGeom>
        </p:spPr>
      </p:pic>
    </p:spTree>
    <p:extLst>
      <p:ext uri="{BB962C8B-B14F-4D97-AF65-F5344CB8AC3E}">
        <p14:creationId xmlns:p14="http://schemas.microsoft.com/office/powerpoint/2010/main" val="1211673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FE694-D3D2-4B67-97BD-335C8EE0DCFA}"/>
              </a:ext>
            </a:extLst>
          </p:cNvPr>
          <p:cNvSpPr>
            <a:spLocks noGrp="1"/>
          </p:cNvSpPr>
          <p:nvPr>
            <p:ph type="title"/>
          </p:nvPr>
        </p:nvSpPr>
        <p:spPr/>
        <p:txBody>
          <a:bodyPr/>
          <a:lstStyle/>
          <a:p>
            <a:r>
              <a:rPr lang="en-US" dirty="0"/>
              <a:t>TASK 2 TO CONTINUE…..</a:t>
            </a:r>
            <a:endParaRPr lang="en-IN" dirty="0"/>
          </a:p>
        </p:txBody>
      </p:sp>
      <p:pic>
        <p:nvPicPr>
          <p:cNvPr id="4" name="Picture 3">
            <a:extLst>
              <a:ext uri="{FF2B5EF4-FFF2-40B4-BE49-F238E27FC236}">
                <a16:creationId xmlns:a16="http://schemas.microsoft.com/office/drawing/2014/main" id="{4E984520-21E6-445F-AD7E-7880E41DC853}"/>
              </a:ext>
            </a:extLst>
          </p:cNvPr>
          <p:cNvPicPr>
            <a:picLocks noChangeAspect="1"/>
          </p:cNvPicPr>
          <p:nvPr/>
        </p:nvPicPr>
        <p:blipFill>
          <a:blip r:embed="rId2"/>
          <a:stretch>
            <a:fillRect/>
          </a:stretch>
        </p:blipFill>
        <p:spPr>
          <a:xfrm>
            <a:off x="798342" y="2722187"/>
            <a:ext cx="9611750" cy="1005751"/>
          </a:xfrm>
          <a:prstGeom prst="rect">
            <a:avLst/>
          </a:prstGeom>
        </p:spPr>
      </p:pic>
      <p:sp>
        <p:nvSpPr>
          <p:cNvPr id="6" name="TextBox 5">
            <a:extLst>
              <a:ext uri="{FF2B5EF4-FFF2-40B4-BE49-F238E27FC236}">
                <a16:creationId xmlns:a16="http://schemas.microsoft.com/office/drawing/2014/main" id="{54A6AC55-341F-426C-85DD-845C3407DFF9}"/>
              </a:ext>
            </a:extLst>
          </p:cNvPr>
          <p:cNvSpPr txBox="1"/>
          <p:nvPr/>
        </p:nvSpPr>
        <p:spPr>
          <a:xfrm>
            <a:off x="661182" y="4111508"/>
            <a:ext cx="10508566"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orders are ranked by delivery delay within each warehouse. This helps identify the most delayed orders in every warehouse and shows where delivery performance needs improvement.</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Regularly review the highest-ranked delayed orders in each warehouse. Find the reasons for the delays and improve warehouse operations and delivery planning to reduce future delays.</a:t>
            </a:r>
          </a:p>
        </p:txBody>
      </p:sp>
    </p:spTree>
    <p:extLst>
      <p:ext uri="{BB962C8B-B14F-4D97-AF65-F5344CB8AC3E}">
        <p14:creationId xmlns:p14="http://schemas.microsoft.com/office/powerpoint/2010/main" val="3557719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BF12-6C4D-48BE-9986-748EFE57A9A3}"/>
              </a:ext>
            </a:extLst>
          </p:cNvPr>
          <p:cNvSpPr>
            <a:spLocks noGrp="1"/>
          </p:cNvSpPr>
          <p:nvPr>
            <p:ph type="title"/>
          </p:nvPr>
        </p:nvSpPr>
        <p:spPr/>
        <p:txBody>
          <a:bodyPr/>
          <a:lstStyle/>
          <a:p>
            <a:r>
              <a:rPr lang="en-US" dirty="0"/>
              <a:t>TASK 2 TO CONTINUE…..</a:t>
            </a:r>
            <a:endParaRPr lang="en-IN" dirty="0"/>
          </a:p>
        </p:txBody>
      </p:sp>
      <p:sp>
        <p:nvSpPr>
          <p:cNvPr id="3" name="Content Placeholder 2">
            <a:extLst>
              <a:ext uri="{FF2B5EF4-FFF2-40B4-BE49-F238E27FC236}">
                <a16:creationId xmlns:a16="http://schemas.microsoft.com/office/drawing/2014/main" id="{607233DD-F6D9-49B5-80BF-A4CCE011B7C4}"/>
              </a:ext>
            </a:extLst>
          </p:cNvPr>
          <p:cNvSpPr>
            <a:spLocks noGrp="1"/>
          </p:cNvSpPr>
          <p:nvPr>
            <p:ph idx="1"/>
          </p:nvPr>
        </p:nvSpPr>
        <p:spPr/>
        <p:txBody>
          <a:bodyPr/>
          <a:lstStyle/>
          <a:p>
            <a:r>
              <a:rPr lang="en-US" sz="1800" b="1" dirty="0">
                <a:latin typeface="Arial" panose="020B0604020202020204" pitchFamily="34" charset="0"/>
                <a:cs typeface="Arial" panose="020B0604020202020204" pitchFamily="34" charset="0"/>
              </a:rPr>
              <a:t>Business Insight:</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Routes </a:t>
            </a:r>
            <a:r>
              <a:rPr lang="en-US" sz="1800" b="1" dirty="0">
                <a:latin typeface="Arial" panose="020B0604020202020204" pitchFamily="34" charset="0"/>
                <a:cs typeface="Arial" panose="020B0604020202020204" pitchFamily="34" charset="0"/>
              </a:rPr>
              <a:t>R005</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R004</a:t>
            </a:r>
            <a:r>
              <a:rPr lang="en-US" sz="1800" dirty="0">
                <a:latin typeface="Arial" panose="020B0604020202020204" pitchFamily="34" charset="0"/>
                <a:cs typeface="Arial" panose="020B0604020202020204" pitchFamily="34" charset="0"/>
              </a:rPr>
              <a:t> have the highest average delivery time. This means deliveries on these routes take longer than others and may have traffic or delivery process issues.</a:t>
            </a:r>
          </a:p>
          <a:p>
            <a:r>
              <a:rPr lang="en-US" sz="1800" b="1" dirty="0">
                <a:latin typeface="Arial" panose="020B0604020202020204" pitchFamily="34" charset="0"/>
                <a:cs typeface="Arial" panose="020B0604020202020204" pitchFamily="34" charset="0"/>
              </a:rPr>
              <a:t>Recommendation:</a:t>
            </a: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Review these routes for traffic, delivery schedules, and operational issues. Improving these routes can help reduce delivery time and increase customer satisfaction.</a:t>
            </a:r>
            <a:endParaRPr lang="en-US" sz="1600" dirty="0">
              <a:latin typeface="Arial" panose="020B060402020202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1229994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BE03F-D564-4B79-B58B-5C155BCBC0BD}"/>
              </a:ext>
            </a:extLst>
          </p:cNvPr>
          <p:cNvSpPr>
            <a:spLocks noGrp="1"/>
          </p:cNvSpPr>
          <p:nvPr>
            <p:ph type="title"/>
          </p:nvPr>
        </p:nvSpPr>
        <p:spPr/>
        <p:txBody>
          <a:bodyPr/>
          <a:lstStyle/>
          <a:p>
            <a:r>
              <a:rPr lang="en-IN" dirty="0"/>
              <a:t> TASK 3: ROUTE OPTIMIZATION</a:t>
            </a:r>
          </a:p>
        </p:txBody>
      </p:sp>
      <p:sp>
        <p:nvSpPr>
          <p:cNvPr id="3" name="Content Placeholder 2">
            <a:extLst>
              <a:ext uri="{FF2B5EF4-FFF2-40B4-BE49-F238E27FC236}">
                <a16:creationId xmlns:a16="http://schemas.microsoft.com/office/drawing/2014/main" id="{BD5DD3CD-F107-46AF-B1C9-DC19DBF43FBC}"/>
              </a:ext>
            </a:extLst>
          </p:cNvPr>
          <p:cNvSpPr>
            <a:spLocks noGrp="1"/>
          </p:cNvSpPr>
          <p:nvPr>
            <p:ph idx="1"/>
          </p:nvPr>
        </p:nvSpPr>
        <p:spPr>
          <a:xfrm>
            <a:off x="196948" y="2249268"/>
            <a:ext cx="11764787" cy="5065932"/>
          </a:xfrm>
        </p:spPr>
        <p:txBody>
          <a:bodyPr>
            <a:normAutofit/>
          </a:bodyPr>
          <a:lstStyle/>
          <a:p>
            <a:pPr marL="0" indent="0">
              <a:buNone/>
            </a:pPr>
            <a:r>
              <a:rPr lang="en-US" dirty="0"/>
              <a:t> 1</a:t>
            </a:r>
            <a:r>
              <a:rPr lang="en-US" sz="1500" b="1" dirty="0">
                <a:latin typeface="Arial" panose="020B0604020202020204" pitchFamily="34" charset="0"/>
                <a:cs typeface="Arial" panose="020B0604020202020204" pitchFamily="34" charset="0"/>
              </a:rPr>
              <a:t>. Average delivery time for each route</a:t>
            </a:r>
            <a:endParaRPr lang="en-IN" sz="1500" b="1" dirty="0">
              <a:latin typeface="Arial" panose="020B0604020202020204" pitchFamily="34" charset="0"/>
              <a:cs typeface="Arial" panose="020B0604020202020204" pitchFamily="34" charset="0"/>
            </a:endParaRPr>
          </a:p>
          <a:p>
            <a:r>
              <a:rPr lang="en-US" sz="1200" dirty="0"/>
              <a:t>;</a:t>
            </a:r>
            <a:endParaRPr lang="en-IN" sz="1200" dirty="0"/>
          </a:p>
          <a:p>
            <a:endParaRPr lang="en-IN" dirty="0"/>
          </a:p>
          <a:p>
            <a:endParaRPr lang="en-IN" dirty="0"/>
          </a:p>
          <a:p>
            <a:endParaRPr lang="en-IN" dirty="0"/>
          </a:p>
          <a:p>
            <a:pPr marL="0" indent="0">
              <a:buNone/>
            </a:pPr>
            <a:endParaRPr lang="en-IN"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44858539-5BFB-4D29-9173-DBEC6341D384}"/>
              </a:ext>
            </a:extLst>
          </p:cNvPr>
          <p:cNvPicPr>
            <a:picLocks noChangeAspect="1"/>
          </p:cNvPicPr>
          <p:nvPr/>
        </p:nvPicPr>
        <p:blipFill>
          <a:blip r:embed="rId2"/>
          <a:stretch>
            <a:fillRect/>
          </a:stretch>
        </p:blipFill>
        <p:spPr>
          <a:xfrm>
            <a:off x="337625" y="4990513"/>
            <a:ext cx="9988061" cy="1589649"/>
          </a:xfrm>
          <a:prstGeom prst="rect">
            <a:avLst/>
          </a:prstGeom>
        </p:spPr>
      </p:pic>
      <p:pic>
        <p:nvPicPr>
          <p:cNvPr id="8" name="Picture 7">
            <a:extLst>
              <a:ext uri="{FF2B5EF4-FFF2-40B4-BE49-F238E27FC236}">
                <a16:creationId xmlns:a16="http://schemas.microsoft.com/office/drawing/2014/main" id="{0A2BC77C-FF97-4D92-940F-D2EE12FC5D76}"/>
              </a:ext>
            </a:extLst>
          </p:cNvPr>
          <p:cNvPicPr>
            <a:picLocks noChangeAspect="1"/>
          </p:cNvPicPr>
          <p:nvPr/>
        </p:nvPicPr>
        <p:blipFill>
          <a:blip r:embed="rId3"/>
          <a:stretch>
            <a:fillRect/>
          </a:stretch>
        </p:blipFill>
        <p:spPr>
          <a:xfrm>
            <a:off x="439754" y="2616591"/>
            <a:ext cx="9773391" cy="1805286"/>
          </a:xfrm>
          <a:prstGeom prst="rect">
            <a:avLst/>
          </a:prstGeom>
        </p:spPr>
      </p:pic>
    </p:spTree>
    <p:extLst>
      <p:ext uri="{BB962C8B-B14F-4D97-AF65-F5344CB8AC3E}">
        <p14:creationId xmlns:p14="http://schemas.microsoft.com/office/powerpoint/2010/main" val="1886467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9F1B7-BECB-4270-852D-6F8015728636}"/>
              </a:ext>
            </a:extLst>
          </p:cNvPr>
          <p:cNvSpPr>
            <a:spLocks noGrp="1"/>
          </p:cNvSpPr>
          <p:nvPr>
            <p:ph type="title"/>
          </p:nvPr>
        </p:nvSpPr>
        <p:spPr/>
        <p:txBody>
          <a:bodyPr/>
          <a:lstStyle/>
          <a:p>
            <a:r>
              <a:rPr lang="en-US" dirty="0"/>
              <a:t>TASK 3 TO CONTINUE…..</a:t>
            </a:r>
            <a:endParaRPr lang="en-IN" dirty="0"/>
          </a:p>
        </p:txBody>
      </p:sp>
      <p:pic>
        <p:nvPicPr>
          <p:cNvPr id="5" name="Content Placeholder 4">
            <a:extLst>
              <a:ext uri="{FF2B5EF4-FFF2-40B4-BE49-F238E27FC236}">
                <a16:creationId xmlns:a16="http://schemas.microsoft.com/office/drawing/2014/main" id="{8B3B8505-7810-4CB3-892B-E5AF456F4993}"/>
              </a:ext>
            </a:extLst>
          </p:cNvPr>
          <p:cNvPicPr>
            <a:picLocks noGrp="1" noChangeAspect="1"/>
          </p:cNvPicPr>
          <p:nvPr>
            <p:ph idx="1"/>
          </p:nvPr>
        </p:nvPicPr>
        <p:blipFill>
          <a:blip r:embed="rId2"/>
          <a:stretch>
            <a:fillRect/>
          </a:stretch>
        </p:blipFill>
        <p:spPr>
          <a:xfrm>
            <a:off x="576775" y="4328876"/>
            <a:ext cx="6991643" cy="1312268"/>
          </a:xfrm>
        </p:spPr>
      </p:pic>
      <p:pic>
        <p:nvPicPr>
          <p:cNvPr id="6" name="Picture 5">
            <a:extLst>
              <a:ext uri="{FF2B5EF4-FFF2-40B4-BE49-F238E27FC236}">
                <a16:creationId xmlns:a16="http://schemas.microsoft.com/office/drawing/2014/main" id="{FE4BE015-1913-430E-BEDF-894886D55AD5}"/>
              </a:ext>
            </a:extLst>
          </p:cNvPr>
          <p:cNvPicPr>
            <a:picLocks noChangeAspect="1"/>
          </p:cNvPicPr>
          <p:nvPr/>
        </p:nvPicPr>
        <p:blipFill>
          <a:blip r:embed="rId3"/>
          <a:stretch>
            <a:fillRect/>
          </a:stretch>
        </p:blipFill>
        <p:spPr>
          <a:xfrm>
            <a:off x="750772" y="3108956"/>
            <a:ext cx="7862483" cy="952633"/>
          </a:xfrm>
          <a:prstGeom prst="rect">
            <a:avLst/>
          </a:prstGeom>
        </p:spPr>
      </p:pic>
      <p:sp>
        <p:nvSpPr>
          <p:cNvPr id="7" name="Rectangle 1">
            <a:extLst>
              <a:ext uri="{FF2B5EF4-FFF2-40B4-BE49-F238E27FC236}">
                <a16:creationId xmlns:a16="http://schemas.microsoft.com/office/drawing/2014/main" id="{0ED45C36-FFB6-4094-B471-ECD69AFEC5EE}"/>
              </a:ext>
            </a:extLst>
          </p:cNvPr>
          <p:cNvSpPr>
            <a:spLocks noChangeArrowheads="1"/>
          </p:cNvSpPr>
          <p:nvPr/>
        </p:nvSpPr>
        <p:spPr bwMode="auto">
          <a:xfrm>
            <a:off x="422029" y="5753686"/>
            <a:ext cx="1093059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Business Insight:</a:t>
            </a:r>
            <a:r>
              <a:rPr kumimoji="0" lang="en-US" altLang="en-US" sz="1500" b="0" i="0" u="none" strike="noStrike" cap="none" normalizeH="0" baseline="0" dirty="0">
                <a:ln>
                  <a:noFill/>
                </a:ln>
                <a:solidFill>
                  <a:schemeClr val="tx1"/>
                </a:solidFill>
                <a:effectLst/>
                <a:latin typeface="Arial" panose="020B0604020202020204" pitchFamily="34" charset="0"/>
              </a:rPr>
              <a:t> Routes with high average traffic delay experience frequent congestion, increasing delivery time and transportation costs.</a:t>
            </a: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Recommendation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Optimize delivery schedules during peak traffic hours and consider alternate routes.</a:t>
            </a:r>
          </a:p>
        </p:txBody>
      </p:sp>
      <p:sp>
        <p:nvSpPr>
          <p:cNvPr id="11" name="TextBox 10">
            <a:extLst>
              <a:ext uri="{FF2B5EF4-FFF2-40B4-BE49-F238E27FC236}">
                <a16:creationId xmlns:a16="http://schemas.microsoft.com/office/drawing/2014/main" id="{1A31920F-A7A2-4068-A67E-70923D2A3D3D}"/>
              </a:ext>
            </a:extLst>
          </p:cNvPr>
          <p:cNvSpPr txBox="1"/>
          <p:nvPr/>
        </p:nvSpPr>
        <p:spPr>
          <a:xfrm>
            <a:off x="713932" y="2234978"/>
            <a:ext cx="6098344" cy="369332"/>
          </a:xfrm>
          <a:prstGeom prst="rect">
            <a:avLst/>
          </a:prstGeom>
          <a:noFill/>
        </p:spPr>
        <p:txBody>
          <a:bodyPr wrap="square">
            <a:spAutoFit/>
          </a:bodyPr>
          <a:lstStyle/>
          <a:p>
            <a:pPr marL="0" indent="0">
              <a:buNone/>
            </a:pPr>
            <a:r>
              <a:rPr lang="en-US" sz="1600" b="1" dirty="0">
                <a:latin typeface="Arial" panose="020B0604020202020204" pitchFamily="34" charset="0"/>
                <a:cs typeface="Arial" panose="020B0604020202020204" pitchFamily="34" charset="0"/>
              </a:rPr>
              <a:t>2 . </a:t>
            </a:r>
            <a:r>
              <a:rPr lang="en-US" b="1" dirty="0">
                <a:latin typeface="Arial" panose="020B0604020202020204" pitchFamily="34" charset="0"/>
                <a:cs typeface="Arial" panose="020B0604020202020204" pitchFamily="34" charset="0"/>
              </a:rPr>
              <a:t>Average traffic delay for each route</a:t>
            </a:r>
          </a:p>
        </p:txBody>
      </p:sp>
    </p:spTree>
    <p:extLst>
      <p:ext uri="{BB962C8B-B14F-4D97-AF65-F5344CB8AC3E}">
        <p14:creationId xmlns:p14="http://schemas.microsoft.com/office/powerpoint/2010/main" val="1024483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1D64-B6FE-4B4D-B0EC-6A45C6916A4F}"/>
              </a:ext>
            </a:extLst>
          </p:cNvPr>
          <p:cNvSpPr>
            <a:spLocks noGrp="1"/>
          </p:cNvSpPr>
          <p:nvPr>
            <p:ph type="title"/>
          </p:nvPr>
        </p:nvSpPr>
        <p:spPr/>
        <p:txBody>
          <a:bodyPr/>
          <a:lstStyle/>
          <a:p>
            <a:r>
              <a:rPr lang="en-US" dirty="0"/>
              <a:t>TASK 3 TO CONTINUE…..</a:t>
            </a:r>
            <a:endParaRPr lang="en-IN" dirty="0"/>
          </a:p>
        </p:txBody>
      </p:sp>
      <p:graphicFrame>
        <p:nvGraphicFramePr>
          <p:cNvPr id="16" name="Content Placeholder 15">
            <a:extLst>
              <a:ext uri="{FF2B5EF4-FFF2-40B4-BE49-F238E27FC236}">
                <a16:creationId xmlns:a16="http://schemas.microsoft.com/office/drawing/2014/main" id="{D976CC72-D706-444C-99BB-EE50666F0F4D}"/>
              </a:ext>
            </a:extLst>
          </p:cNvPr>
          <p:cNvGraphicFramePr>
            <a:graphicFrameLocks noGrp="1"/>
          </p:cNvGraphicFramePr>
          <p:nvPr>
            <p:ph idx="1"/>
            <p:extLst>
              <p:ext uri="{D42A27DB-BD31-4B8C-83A1-F6EECF244321}">
                <p14:modId xmlns:p14="http://schemas.microsoft.com/office/powerpoint/2010/main" val="1987853846"/>
              </p:ext>
            </p:extLst>
          </p:nvPr>
        </p:nvGraphicFramePr>
        <p:xfrm>
          <a:off x="824396" y="2630004"/>
          <a:ext cx="8824913" cy="34163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40674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AE2F-E014-48BB-A446-90327A74ECF1}"/>
              </a:ext>
            </a:extLst>
          </p:cNvPr>
          <p:cNvSpPr>
            <a:spLocks noGrp="1"/>
          </p:cNvSpPr>
          <p:nvPr>
            <p:ph type="title"/>
          </p:nvPr>
        </p:nvSpPr>
        <p:spPr/>
        <p:txBody>
          <a:bodyPr/>
          <a:lstStyle/>
          <a:p>
            <a:r>
              <a:rPr lang="en-US" dirty="0"/>
              <a:t>TASK 3 TO CONTINUE…..</a:t>
            </a:r>
            <a:endParaRPr lang="en-IN" dirty="0"/>
          </a:p>
        </p:txBody>
      </p:sp>
      <p:sp>
        <p:nvSpPr>
          <p:cNvPr id="3" name="Content Placeholder 2">
            <a:extLst>
              <a:ext uri="{FF2B5EF4-FFF2-40B4-BE49-F238E27FC236}">
                <a16:creationId xmlns:a16="http://schemas.microsoft.com/office/drawing/2014/main" id="{0719AE2F-0743-4BBC-B9AA-854D21102C81}"/>
              </a:ext>
            </a:extLst>
          </p:cNvPr>
          <p:cNvSpPr>
            <a:spLocks noGrp="1"/>
          </p:cNvSpPr>
          <p:nvPr>
            <p:ph idx="1"/>
          </p:nvPr>
        </p:nvSpPr>
        <p:spPr/>
        <p:txBody>
          <a:bodyPr/>
          <a:lstStyle/>
          <a:p>
            <a:r>
              <a:rPr lang="en-US" sz="1600" b="1" dirty="0">
                <a:latin typeface="Arial" panose="020B0604020202020204" pitchFamily="34" charset="0"/>
                <a:cs typeface="Arial" panose="020B0604020202020204" pitchFamily="34" charset="0"/>
              </a:rPr>
              <a:t>Business Insight</a:t>
            </a:r>
            <a:endParaRPr lang="en-U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Route </a:t>
            </a:r>
            <a:r>
              <a:rPr lang="en-US" sz="1600" b="1" dirty="0">
                <a:latin typeface="Arial" panose="020B0604020202020204" pitchFamily="34" charset="0"/>
                <a:cs typeface="Arial" panose="020B0604020202020204" pitchFamily="34" charset="0"/>
              </a:rPr>
              <a:t>R014</a:t>
            </a:r>
            <a:r>
              <a:rPr lang="en-US" sz="1600" dirty="0">
                <a:latin typeface="Arial" panose="020B0604020202020204" pitchFamily="34" charset="0"/>
                <a:cs typeface="Arial" panose="020B0604020202020204" pitchFamily="34" charset="0"/>
              </a:rPr>
              <a:t> has the highest average traffic delay (about </a:t>
            </a:r>
            <a:r>
              <a:rPr lang="en-US" sz="1600" b="1" dirty="0">
                <a:latin typeface="Arial" panose="020B0604020202020204" pitchFamily="34" charset="0"/>
                <a:cs typeface="Arial" panose="020B0604020202020204" pitchFamily="34" charset="0"/>
              </a:rPr>
              <a:t>58 minutes</a:t>
            </a:r>
            <a:r>
              <a:rPr lang="en-US" sz="1600" dirty="0">
                <a:latin typeface="Arial" panose="020B0604020202020204" pitchFamily="34" charset="0"/>
                <a:cs typeface="Arial" panose="020B0604020202020204" pitchFamily="34" charset="0"/>
              </a:rPr>
              <a:t>). </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Routes </a:t>
            </a:r>
            <a:r>
              <a:rPr lang="en-US" sz="1600" b="1" dirty="0">
                <a:latin typeface="Arial" panose="020B0604020202020204" pitchFamily="34" charset="0"/>
                <a:cs typeface="Arial" panose="020B0604020202020204" pitchFamily="34" charset="0"/>
              </a:rPr>
              <a:t>R007</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R009</a:t>
            </a:r>
            <a:r>
              <a:rPr lang="en-US" sz="1600" dirty="0">
                <a:latin typeface="Arial" panose="020B0604020202020204" pitchFamily="34" charset="0"/>
                <a:cs typeface="Arial" panose="020B0604020202020204" pitchFamily="34" charset="0"/>
              </a:rPr>
              <a:t> also experience high traffic delays. </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These routes are more likely to contribute to late deliveries. </a:t>
            </a:r>
          </a:p>
          <a:p>
            <a:r>
              <a:rPr lang="en-US" sz="1600" b="1" dirty="0">
                <a:latin typeface="Arial" panose="020B0604020202020204" pitchFamily="34" charset="0"/>
                <a:cs typeface="Arial" panose="020B0604020202020204" pitchFamily="34" charset="0"/>
              </a:rPr>
              <a:t>Recommendation</a:t>
            </a:r>
            <a:endParaRPr lang="en-US"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Optimize delivery schedules during peak traffic hours. </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Use alternate routes where possible. </a:t>
            </a:r>
          </a:p>
          <a:p>
            <a:pPr>
              <a:buFont typeface="Arial" panose="020B0604020202020204" pitchFamily="34" charset="0"/>
              <a:buChar char="•"/>
            </a:pPr>
            <a:r>
              <a:rPr lang="en-US" sz="1600" dirty="0">
                <a:latin typeface="Arial" panose="020B0604020202020204" pitchFamily="34" charset="0"/>
                <a:cs typeface="Arial" panose="020B0604020202020204" pitchFamily="34" charset="0"/>
              </a:rPr>
              <a:t>Monitor traffic conditions in real time. </a:t>
            </a:r>
          </a:p>
          <a:p>
            <a:endParaRPr lang="en-IN" dirty="0"/>
          </a:p>
        </p:txBody>
      </p:sp>
    </p:spTree>
    <p:extLst>
      <p:ext uri="{BB962C8B-B14F-4D97-AF65-F5344CB8AC3E}">
        <p14:creationId xmlns:p14="http://schemas.microsoft.com/office/powerpoint/2010/main" val="1181095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955F-080F-4784-857B-FDA35C2A0D6E}"/>
              </a:ext>
            </a:extLst>
          </p:cNvPr>
          <p:cNvSpPr>
            <a:spLocks noGrp="1"/>
          </p:cNvSpPr>
          <p:nvPr>
            <p:ph type="title"/>
          </p:nvPr>
        </p:nvSpPr>
        <p:spPr/>
        <p:txBody>
          <a:bodyPr/>
          <a:lstStyle/>
          <a:p>
            <a:r>
              <a:rPr lang="en-US" dirty="0"/>
              <a:t>TASK 3 TO CONTINUE…..</a:t>
            </a:r>
            <a:endParaRPr lang="en-IN" dirty="0"/>
          </a:p>
        </p:txBody>
      </p:sp>
      <p:sp>
        <p:nvSpPr>
          <p:cNvPr id="3" name="Content Placeholder 2">
            <a:extLst>
              <a:ext uri="{FF2B5EF4-FFF2-40B4-BE49-F238E27FC236}">
                <a16:creationId xmlns:a16="http://schemas.microsoft.com/office/drawing/2014/main" id="{2B4029A6-E2DF-4717-95F4-AC12C91AF051}"/>
              </a:ext>
            </a:extLst>
          </p:cNvPr>
          <p:cNvSpPr>
            <a:spLocks noGrp="1"/>
          </p:cNvSpPr>
          <p:nvPr>
            <p:ph idx="1"/>
          </p:nvPr>
        </p:nvSpPr>
        <p:spPr>
          <a:xfrm>
            <a:off x="571500" y="2095500"/>
            <a:ext cx="11315700" cy="4889500"/>
          </a:xfrm>
        </p:spPr>
        <p:txBody>
          <a:bodyPr>
            <a:normAutofit fontScale="92500" lnSpcReduction="20000"/>
          </a:bodyPr>
          <a:lstStyle/>
          <a:p>
            <a:endParaRPr lang="en-US" sz="1200" dirty="0"/>
          </a:p>
          <a:p>
            <a:pPr marL="0" indent="0">
              <a:buNone/>
            </a:pPr>
            <a:endParaRPr lang="en-IN" sz="1200" dirty="0">
              <a:latin typeface="Arial" panose="020B0604020202020204" pitchFamily="34" charset="0"/>
              <a:cs typeface="Arial" panose="020B0604020202020204" pitchFamily="34" charset="0"/>
            </a:endParaRPr>
          </a:p>
          <a:p>
            <a:pPr marL="0" indent="0">
              <a:buNone/>
            </a:pPr>
            <a:endParaRPr lang="en-IN" sz="1200" dirty="0">
              <a:latin typeface="Arial" panose="020B0604020202020204" pitchFamily="34" charset="0"/>
              <a:cs typeface="Arial" panose="020B0604020202020204" pitchFamily="34" charset="0"/>
            </a:endParaRPr>
          </a:p>
          <a:p>
            <a:pPr marL="0" indent="0">
              <a:buNone/>
            </a:pPr>
            <a:endParaRPr lang="en-IN" sz="1200" dirty="0">
              <a:latin typeface="Arial" panose="020B0604020202020204" pitchFamily="34" charset="0"/>
              <a:cs typeface="Arial" panose="020B0604020202020204" pitchFamily="34" charset="0"/>
            </a:endParaRPr>
          </a:p>
          <a:p>
            <a:pPr marL="0" indent="0">
              <a:buNone/>
            </a:pPr>
            <a:endParaRPr lang="en-IN" sz="1200" dirty="0">
              <a:latin typeface="Arial" panose="020B0604020202020204" pitchFamily="34" charset="0"/>
              <a:cs typeface="Arial" panose="020B0604020202020204" pitchFamily="34" charset="0"/>
            </a:endParaRPr>
          </a:p>
          <a:p>
            <a:pPr marL="0" indent="0">
              <a:buNone/>
            </a:pPr>
            <a:endParaRPr lang="en-IN" sz="1200" dirty="0">
              <a:latin typeface="Arial" panose="020B0604020202020204" pitchFamily="34" charset="0"/>
              <a:cs typeface="Arial" panose="020B0604020202020204" pitchFamily="34" charset="0"/>
            </a:endParaRPr>
          </a:p>
          <a:p>
            <a:pPr marL="0" indent="0">
              <a:buNone/>
            </a:pPr>
            <a:endParaRPr lang="en-US" sz="1200" dirty="0">
              <a:latin typeface="Arial" panose="020B0604020202020204" pitchFamily="34" charset="0"/>
              <a:cs typeface="Arial" panose="020B0604020202020204" pitchFamily="34" charset="0"/>
            </a:endParaRPr>
          </a:p>
          <a:p>
            <a:pPr marL="0" indent="0">
              <a:buNone/>
            </a:pPr>
            <a:endParaRPr lang="en-US" sz="1200" dirty="0">
              <a:latin typeface="Arial" panose="020B0604020202020204" pitchFamily="34" charset="0"/>
              <a:cs typeface="Arial" panose="020B0604020202020204" pitchFamily="34" charset="0"/>
            </a:endParaRPr>
          </a:p>
          <a:p>
            <a:pPr marL="0" indent="0">
              <a:buNone/>
            </a:pPr>
            <a:endParaRPr lang="en-US" sz="1200" dirty="0">
              <a:latin typeface="Arial" panose="020B0604020202020204" pitchFamily="34" charset="0"/>
              <a:cs typeface="Arial" panose="020B0604020202020204" pitchFamily="34" charset="0"/>
            </a:endParaRPr>
          </a:p>
          <a:p>
            <a:endParaRPr lang="en-US" sz="1600" b="1" dirty="0">
              <a:latin typeface="Arial" panose="020B0604020202020204" pitchFamily="34" charset="0"/>
              <a:cs typeface="Arial" panose="020B0604020202020204" pitchFamily="34" charset="0"/>
            </a:endParaRPr>
          </a:p>
          <a:p>
            <a:endParaRPr lang="en-US" sz="1600" b="1" dirty="0">
              <a:latin typeface="Arial" panose="020B0604020202020204" pitchFamily="34" charset="0"/>
              <a:cs typeface="Arial" panose="020B0604020202020204" pitchFamily="34" charset="0"/>
            </a:endParaRPr>
          </a:p>
          <a:p>
            <a:r>
              <a:rPr lang="en-US" sz="1700" b="1" dirty="0">
                <a:latin typeface="Arial" panose="020B0604020202020204" pitchFamily="34" charset="0"/>
                <a:cs typeface="Arial" panose="020B0604020202020204" pitchFamily="34" charset="0"/>
              </a:rPr>
              <a:t>Business Insight:</a:t>
            </a:r>
            <a:endParaRPr lang="en-US" sz="1700" dirty="0">
              <a:latin typeface="Arial" panose="020B0604020202020204" pitchFamily="34" charset="0"/>
              <a:cs typeface="Arial" panose="020B0604020202020204" pitchFamily="34" charset="0"/>
            </a:endParaRPr>
          </a:p>
          <a:p>
            <a:r>
              <a:rPr lang="en-US" sz="1700" dirty="0">
                <a:latin typeface="Arial" panose="020B0604020202020204" pitchFamily="34" charset="0"/>
                <a:cs typeface="Arial" panose="020B0604020202020204" pitchFamily="34" charset="0"/>
              </a:rPr>
              <a:t>A low efficiency ratio means the route takes more time to cover a shorter distance. This may show that the route is not operating efficiently.</a:t>
            </a:r>
          </a:p>
          <a:p>
            <a:r>
              <a:rPr lang="en-US" sz="1700" b="1" dirty="0">
                <a:latin typeface="Arial" panose="020B0604020202020204" pitchFamily="34" charset="0"/>
                <a:cs typeface="Arial" panose="020B0604020202020204" pitchFamily="34" charset="0"/>
              </a:rPr>
              <a:t>Recommendation:</a:t>
            </a:r>
          </a:p>
          <a:p>
            <a:r>
              <a:rPr lang="en-US" sz="1700" dirty="0">
                <a:latin typeface="Arial" panose="020B0604020202020204" pitchFamily="34" charset="0"/>
                <a:cs typeface="Arial" panose="020B0604020202020204" pitchFamily="34" charset="0"/>
              </a:rPr>
              <a:t>Check these routes for traffic, road conditions, and delivery schedules. Fixing these issues can improve route efficiency and reduce delivery time.</a:t>
            </a:r>
          </a:p>
          <a:p>
            <a:pPr marL="0" indent="0">
              <a:buNone/>
            </a:pPr>
            <a:endParaRPr lang="en-IN" sz="1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AB4B948-B4C6-4D7E-96B6-7B5B12B56645}"/>
              </a:ext>
            </a:extLst>
          </p:cNvPr>
          <p:cNvPicPr>
            <a:picLocks noChangeAspect="1"/>
          </p:cNvPicPr>
          <p:nvPr/>
        </p:nvPicPr>
        <p:blipFill>
          <a:blip r:embed="rId2"/>
          <a:stretch>
            <a:fillRect/>
          </a:stretch>
        </p:blipFill>
        <p:spPr>
          <a:xfrm>
            <a:off x="1448972" y="3885806"/>
            <a:ext cx="7005711" cy="984884"/>
          </a:xfrm>
          <a:prstGeom prst="rect">
            <a:avLst/>
          </a:prstGeom>
        </p:spPr>
      </p:pic>
      <p:sp>
        <p:nvSpPr>
          <p:cNvPr id="10" name="Rectangle 4">
            <a:extLst>
              <a:ext uri="{FF2B5EF4-FFF2-40B4-BE49-F238E27FC236}">
                <a16:creationId xmlns:a16="http://schemas.microsoft.com/office/drawing/2014/main" id="{52D39423-3A35-425E-8E4E-BAB1B516AC32}"/>
              </a:ext>
            </a:extLst>
          </p:cNvPr>
          <p:cNvSpPr>
            <a:spLocks noChangeArrowheads="1"/>
          </p:cNvSpPr>
          <p:nvPr/>
        </p:nvSpPr>
        <p:spPr bwMode="auto">
          <a:xfrm>
            <a:off x="444500" y="7341896"/>
            <a:ext cx="1131570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a:rPr>
              <a:t>Result:</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Efficiency ratio is calculated using Distance divided by Travel Time.</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This helps to check how efficiently each route is performing.</a:t>
            </a:r>
            <a:br>
              <a:rPr kumimoji="0" lang="en-US" altLang="en-US" sz="1000" b="0" i="0" u="none" strike="noStrike" cap="none" normalizeH="0" baseline="0" dirty="0">
                <a:ln>
                  <a:noFill/>
                </a:ln>
                <a:solidFill>
                  <a:schemeClr val="tx1"/>
                </a:solidFill>
                <a:effectLst/>
                <a:latin typeface="Arial Unicode MS"/>
              </a:rPr>
            </a:br>
            <a:r>
              <a:rPr kumimoji="0" lang="en-US" altLang="en-US" sz="1000" b="0" i="0" u="none" strike="noStrike" cap="none" normalizeH="0" baseline="0" dirty="0">
                <a:ln>
                  <a:noFill/>
                </a:ln>
                <a:solidFill>
                  <a:schemeClr val="tx1"/>
                </a:solidFill>
                <a:effectLst/>
                <a:latin typeface="Arial Unicode MS"/>
              </a:rPr>
              <a:t>Routes with low efficiency ratio may need better route planning and improvement.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51F909C-8104-4B7B-9F75-6F027B3A830B}"/>
              </a:ext>
            </a:extLst>
          </p:cNvPr>
          <p:cNvPicPr>
            <a:picLocks noChangeAspect="1"/>
          </p:cNvPicPr>
          <p:nvPr/>
        </p:nvPicPr>
        <p:blipFill>
          <a:blip r:embed="rId3"/>
          <a:stretch>
            <a:fillRect/>
          </a:stretch>
        </p:blipFill>
        <p:spPr>
          <a:xfrm>
            <a:off x="780585" y="2585816"/>
            <a:ext cx="7195797" cy="1217637"/>
          </a:xfrm>
          <a:prstGeom prst="rect">
            <a:avLst/>
          </a:prstGeom>
        </p:spPr>
      </p:pic>
      <p:sp>
        <p:nvSpPr>
          <p:cNvPr id="8" name="TextBox 7">
            <a:extLst>
              <a:ext uri="{FF2B5EF4-FFF2-40B4-BE49-F238E27FC236}">
                <a16:creationId xmlns:a16="http://schemas.microsoft.com/office/drawing/2014/main" id="{E0AC43B2-6711-4BCE-A4C7-8BD2F347CED8}"/>
              </a:ext>
            </a:extLst>
          </p:cNvPr>
          <p:cNvSpPr txBox="1"/>
          <p:nvPr/>
        </p:nvSpPr>
        <p:spPr>
          <a:xfrm>
            <a:off x="304800" y="2167604"/>
            <a:ext cx="10930597" cy="338554"/>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3</a:t>
            </a:r>
            <a:r>
              <a:rPr lang="en-US" sz="1600" b="1" dirty="0">
                <a:latin typeface="Arial" panose="020B0604020202020204" pitchFamily="34" charset="0"/>
                <a:cs typeface="Arial" panose="020B0604020202020204" pitchFamily="34" charset="0"/>
              </a:rPr>
              <a:t>. Efficiency ratio (Distance / Time).</a:t>
            </a:r>
          </a:p>
        </p:txBody>
      </p:sp>
    </p:spTree>
    <p:extLst>
      <p:ext uri="{BB962C8B-B14F-4D97-AF65-F5344CB8AC3E}">
        <p14:creationId xmlns:p14="http://schemas.microsoft.com/office/powerpoint/2010/main" val="3650677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4362E-4E1A-4EA4-913F-D9BE45761A00}"/>
              </a:ext>
            </a:extLst>
          </p:cNvPr>
          <p:cNvSpPr>
            <a:spLocks noGrp="1"/>
          </p:cNvSpPr>
          <p:nvPr>
            <p:ph type="title"/>
          </p:nvPr>
        </p:nvSpPr>
        <p:spPr/>
        <p:txBody>
          <a:bodyPr/>
          <a:lstStyle/>
          <a:p>
            <a:r>
              <a:rPr lang="en-US" dirty="0"/>
              <a:t>TASK 3 TO CONTINUE…..</a:t>
            </a:r>
            <a:endParaRPr lang="en-IN" dirty="0"/>
          </a:p>
        </p:txBody>
      </p:sp>
      <p:sp>
        <p:nvSpPr>
          <p:cNvPr id="3" name="Content Placeholder 2">
            <a:extLst>
              <a:ext uri="{FF2B5EF4-FFF2-40B4-BE49-F238E27FC236}">
                <a16:creationId xmlns:a16="http://schemas.microsoft.com/office/drawing/2014/main" id="{52B65F2E-9910-4E1E-9772-CEE9D4C05D98}"/>
              </a:ext>
            </a:extLst>
          </p:cNvPr>
          <p:cNvSpPr>
            <a:spLocks noGrp="1"/>
          </p:cNvSpPr>
          <p:nvPr>
            <p:ph idx="1"/>
          </p:nvPr>
        </p:nvSpPr>
        <p:spPr>
          <a:xfrm>
            <a:off x="700776" y="2223671"/>
            <a:ext cx="8825659" cy="3416300"/>
          </a:xfrm>
        </p:spPr>
        <p:txBody>
          <a:bodyPr/>
          <a:lstStyle/>
          <a:p>
            <a:r>
              <a:rPr lang="en-US" sz="1800" b="1" dirty="0">
                <a:latin typeface="Arial" panose="020B0604020202020204" pitchFamily="34" charset="0"/>
                <a:cs typeface="Arial" panose="020B0604020202020204" pitchFamily="34" charset="0"/>
              </a:rPr>
              <a:t>4. Find 3 routes with worst efficiency ratio</a:t>
            </a:r>
          </a:p>
          <a:p>
            <a:endParaRPr lang="en-IN" sz="1100" dirty="0">
              <a:latin typeface="Arial" panose="020B0604020202020204" pitchFamily="34" charset="0"/>
              <a:cs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E69162EB-B33B-4B22-A74F-706FDED681F1}"/>
              </a:ext>
            </a:extLst>
          </p:cNvPr>
          <p:cNvPicPr>
            <a:picLocks noChangeAspect="1"/>
          </p:cNvPicPr>
          <p:nvPr/>
        </p:nvPicPr>
        <p:blipFill>
          <a:blip r:embed="rId2"/>
          <a:stretch>
            <a:fillRect/>
          </a:stretch>
        </p:blipFill>
        <p:spPr>
          <a:xfrm>
            <a:off x="928468" y="4456279"/>
            <a:ext cx="8370277" cy="733527"/>
          </a:xfrm>
          <a:prstGeom prst="rect">
            <a:avLst/>
          </a:prstGeom>
        </p:spPr>
      </p:pic>
      <p:pic>
        <p:nvPicPr>
          <p:cNvPr id="7" name="Picture 6">
            <a:extLst>
              <a:ext uri="{FF2B5EF4-FFF2-40B4-BE49-F238E27FC236}">
                <a16:creationId xmlns:a16="http://schemas.microsoft.com/office/drawing/2014/main" id="{6C5CE578-9B2A-40C9-B881-4DD69F0F97F2}"/>
              </a:ext>
            </a:extLst>
          </p:cNvPr>
          <p:cNvPicPr>
            <a:picLocks noChangeAspect="1"/>
          </p:cNvPicPr>
          <p:nvPr/>
        </p:nvPicPr>
        <p:blipFill>
          <a:blip r:embed="rId3"/>
          <a:stretch>
            <a:fillRect/>
          </a:stretch>
        </p:blipFill>
        <p:spPr>
          <a:xfrm>
            <a:off x="1336432" y="3158964"/>
            <a:ext cx="8102990" cy="1152686"/>
          </a:xfrm>
          <a:prstGeom prst="rect">
            <a:avLst/>
          </a:prstGeom>
        </p:spPr>
      </p:pic>
      <p:sp>
        <p:nvSpPr>
          <p:cNvPr id="9" name="TextBox 8">
            <a:extLst>
              <a:ext uri="{FF2B5EF4-FFF2-40B4-BE49-F238E27FC236}">
                <a16:creationId xmlns:a16="http://schemas.microsoft.com/office/drawing/2014/main" id="{E7728AD9-E2B8-45E3-A96F-3234265FD887}"/>
              </a:ext>
            </a:extLst>
          </p:cNvPr>
          <p:cNvSpPr txBox="1"/>
          <p:nvPr/>
        </p:nvSpPr>
        <p:spPr>
          <a:xfrm>
            <a:off x="854611" y="5162232"/>
            <a:ext cx="9724293"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A low efficiency ratio means the route takes more time to cover a shorter distance. This may show that the route is not operating efficiently.</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Check these routes for traffic, road conditions, and delivery schedules. Fixing these issues can improve route efficiency and reduce delivery time.</a:t>
            </a:r>
          </a:p>
        </p:txBody>
      </p:sp>
    </p:spTree>
    <p:extLst>
      <p:ext uri="{BB962C8B-B14F-4D97-AF65-F5344CB8AC3E}">
        <p14:creationId xmlns:p14="http://schemas.microsoft.com/office/powerpoint/2010/main" val="56108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13AE-0254-4FC4-9FD6-0B482D5267EB}"/>
              </a:ext>
            </a:extLst>
          </p:cNvPr>
          <p:cNvSpPr>
            <a:spLocks noGrp="1"/>
          </p:cNvSpPr>
          <p:nvPr>
            <p:ph type="title"/>
          </p:nvPr>
        </p:nvSpPr>
        <p:spPr>
          <a:xfrm>
            <a:off x="838200" y="406400"/>
            <a:ext cx="9078167" cy="1193800"/>
          </a:xfrm>
        </p:spPr>
        <p:txBody>
          <a:bodyPr/>
          <a:lstStyle/>
          <a:p>
            <a:r>
              <a:rPr lang="en-US" dirty="0"/>
              <a:t>TASK 3 TO CONTINUE…..</a:t>
            </a:r>
            <a:endParaRPr lang="en-IN" dirty="0"/>
          </a:p>
        </p:txBody>
      </p:sp>
      <p:pic>
        <p:nvPicPr>
          <p:cNvPr id="4" name="Content Placeholder 3">
            <a:extLst>
              <a:ext uri="{FF2B5EF4-FFF2-40B4-BE49-F238E27FC236}">
                <a16:creationId xmlns:a16="http://schemas.microsoft.com/office/drawing/2014/main" id="{3DB50F61-500A-4B44-A492-516AAFB3EC2F}"/>
              </a:ext>
            </a:extLst>
          </p:cNvPr>
          <p:cNvPicPr>
            <a:picLocks noGrp="1" noChangeAspect="1"/>
          </p:cNvPicPr>
          <p:nvPr>
            <p:ph idx="1"/>
          </p:nvPr>
        </p:nvPicPr>
        <p:blipFill>
          <a:blip r:embed="rId2"/>
          <a:stretch>
            <a:fillRect/>
          </a:stretch>
        </p:blipFill>
        <p:spPr>
          <a:xfrm>
            <a:off x="1845322" y="2032001"/>
            <a:ext cx="6765278" cy="889000"/>
          </a:xfrm>
          <a:prstGeom prst="rect">
            <a:avLst/>
          </a:prstGeom>
        </p:spPr>
      </p:pic>
      <p:sp>
        <p:nvSpPr>
          <p:cNvPr id="6" name="TextBox 5">
            <a:extLst>
              <a:ext uri="{FF2B5EF4-FFF2-40B4-BE49-F238E27FC236}">
                <a16:creationId xmlns:a16="http://schemas.microsoft.com/office/drawing/2014/main" id="{CE2FD73C-54C3-4095-AAF8-2F34DF2FB511}"/>
              </a:ext>
            </a:extLst>
          </p:cNvPr>
          <p:cNvSpPr txBox="1"/>
          <p:nvPr/>
        </p:nvSpPr>
        <p:spPr>
          <a:xfrm>
            <a:off x="838200" y="3237984"/>
            <a:ext cx="10845800" cy="323165"/>
          </a:xfrm>
          <a:prstGeom prst="rect">
            <a:avLst/>
          </a:prstGeom>
          <a:noFill/>
        </p:spPr>
        <p:txBody>
          <a:bodyPr wrap="square">
            <a:spAutoFit/>
          </a:bodyPr>
          <a:lstStyle/>
          <a:p>
            <a:r>
              <a:rPr lang="en-IN" sz="1500" b="1" dirty="0">
                <a:latin typeface="Arial" panose="020B0604020202020204" pitchFamily="34" charset="0"/>
                <a:cs typeface="Arial" panose="020B0604020202020204" pitchFamily="34" charset="0"/>
              </a:rPr>
              <a:t>5.Find routes with more than 20% delayed shipments</a:t>
            </a:r>
          </a:p>
        </p:txBody>
      </p:sp>
      <p:pic>
        <p:nvPicPr>
          <p:cNvPr id="5" name="Picture 4">
            <a:extLst>
              <a:ext uri="{FF2B5EF4-FFF2-40B4-BE49-F238E27FC236}">
                <a16:creationId xmlns:a16="http://schemas.microsoft.com/office/drawing/2014/main" id="{B9489DC0-69C8-462C-AFDB-1B0A6111D068}"/>
              </a:ext>
            </a:extLst>
          </p:cNvPr>
          <p:cNvPicPr>
            <a:picLocks noChangeAspect="1"/>
          </p:cNvPicPr>
          <p:nvPr/>
        </p:nvPicPr>
        <p:blipFill>
          <a:blip r:embed="rId3"/>
          <a:stretch>
            <a:fillRect/>
          </a:stretch>
        </p:blipFill>
        <p:spPr>
          <a:xfrm>
            <a:off x="1193742" y="3746168"/>
            <a:ext cx="7851784" cy="2905530"/>
          </a:xfrm>
          <a:prstGeom prst="rect">
            <a:avLst/>
          </a:prstGeom>
        </p:spPr>
      </p:pic>
    </p:spTree>
    <p:extLst>
      <p:ext uri="{BB962C8B-B14F-4D97-AF65-F5344CB8AC3E}">
        <p14:creationId xmlns:p14="http://schemas.microsoft.com/office/powerpoint/2010/main" val="945945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5E078-04A2-4585-B5C6-02B39D47001C}"/>
              </a:ext>
            </a:extLst>
          </p:cNvPr>
          <p:cNvSpPr>
            <a:spLocks noGrp="1"/>
          </p:cNvSpPr>
          <p:nvPr>
            <p:ph type="title"/>
          </p:nvPr>
        </p:nvSpPr>
        <p:spPr/>
        <p:txBody>
          <a:bodyPr/>
          <a:lstStyle/>
          <a:p>
            <a:r>
              <a:rPr lang="en-US" dirty="0"/>
              <a:t>TASK 3 TO CONTINUE…..</a:t>
            </a:r>
            <a:endParaRPr lang="en-IN" dirty="0"/>
          </a:p>
        </p:txBody>
      </p:sp>
      <p:pic>
        <p:nvPicPr>
          <p:cNvPr id="8" name="Content Placeholder 7">
            <a:extLst>
              <a:ext uri="{FF2B5EF4-FFF2-40B4-BE49-F238E27FC236}">
                <a16:creationId xmlns:a16="http://schemas.microsoft.com/office/drawing/2014/main" id="{152706BC-DFE3-400B-A4B9-1ECD1A8DEB55}"/>
              </a:ext>
            </a:extLst>
          </p:cNvPr>
          <p:cNvPicPr>
            <a:picLocks noGrp="1" noChangeAspect="1"/>
          </p:cNvPicPr>
          <p:nvPr>
            <p:ph idx="1"/>
          </p:nvPr>
        </p:nvPicPr>
        <p:blipFill>
          <a:blip r:embed="rId2"/>
          <a:stretch>
            <a:fillRect/>
          </a:stretch>
        </p:blipFill>
        <p:spPr>
          <a:xfrm>
            <a:off x="1154954" y="2099238"/>
            <a:ext cx="4232972" cy="1998592"/>
          </a:xfrm>
        </p:spPr>
      </p:pic>
      <p:sp>
        <p:nvSpPr>
          <p:cNvPr id="10" name="TextBox 9">
            <a:extLst>
              <a:ext uri="{FF2B5EF4-FFF2-40B4-BE49-F238E27FC236}">
                <a16:creationId xmlns:a16="http://schemas.microsoft.com/office/drawing/2014/main" id="{71FDF261-C76D-4517-AB94-F8FC8E13620B}"/>
              </a:ext>
            </a:extLst>
          </p:cNvPr>
          <p:cNvSpPr txBox="1"/>
          <p:nvPr/>
        </p:nvSpPr>
        <p:spPr>
          <a:xfrm>
            <a:off x="329418" y="4130006"/>
            <a:ext cx="11862582"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Routes with more than 20% delayed shipments have frequent delivery delays. This may be caused by traffic, poor route planning, or warehouse processing issues.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Focus on these routes first. Improve route planning, monitor traffic, and update delivery schedules to reduce delays and improve customer satisfaction.</a:t>
            </a:r>
          </a:p>
        </p:txBody>
      </p:sp>
    </p:spTree>
    <p:extLst>
      <p:ext uri="{BB962C8B-B14F-4D97-AF65-F5344CB8AC3E}">
        <p14:creationId xmlns:p14="http://schemas.microsoft.com/office/powerpoint/2010/main" val="14237347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D0FC0-AE13-43AA-95C3-BB138A7FFF21}"/>
              </a:ext>
            </a:extLst>
          </p:cNvPr>
          <p:cNvSpPr>
            <a:spLocks noGrp="1"/>
          </p:cNvSpPr>
          <p:nvPr>
            <p:ph type="title"/>
          </p:nvPr>
        </p:nvSpPr>
        <p:spPr/>
        <p:txBody>
          <a:bodyPr/>
          <a:lstStyle/>
          <a:p>
            <a:r>
              <a:rPr lang="en-US" dirty="0"/>
              <a:t>TASK 3 TO CONTINUE…..</a:t>
            </a:r>
            <a:endParaRPr lang="en-IN" dirty="0"/>
          </a:p>
        </p:txBody>
      </p:sp>
      <p:sp>
        <p:nvSpPr>
          <p:cNvPr id="3" name="Content Placeholder 2">
            <a:extLst>
              <a:ext uri="{FF2B5EF4-FFF2-40B4-BE49-F238E27FC236}">
                <a16:creationId xmlns:a16="http://schemas.microsoft.com/office/drawing/2014/main" id="{C69138C3-E9E4-4DEB-9DD2-3DCCD8206F34}"/>
              </a:ext>
            </a:extLst>
          </p:cNvPr>
          <p:cNvSpPr>
            <a:spLocks noGrp="1"/>
          </p:cNvSpPr>
          <p:nvPr>
            <p:ph idx="1"/>
          </p:nvPr>
        </p:nvSpPr>
        <p:spPr>
          <a:xfrm>
            <a:off x="889000" y="2603500"/>
            <a:ext cx="9091613" cy="3416300"/>
          </a:xfrm>
        </p:spPr>
        <p:txBody>
          <a:bodyPr/>
          <a:lstStyle/>
          <a:p>
            <a:pPr marL="0" indent="0">
              <a:buNone/>
            </a:pPr>
            <a:r>
              <a:rPr lang="en-IN" dirty="0"/>
              <a:t>6. Recommend routes for optimization</a:t>
            </a:r>
          </a:p>
        </p:txBody>
      </p:sp>
      <p:pic>
        <p:nvPicPr>
          <p:cNvPr id="5" name="Picture 4">
            <a:extLst>
              <a:ext uri="{FF2B5EF4-FFF2-40B4-BE49-F238E27FC236}">
                <a16:creationId xmlns:a16="http://schemas.microsoft.com/office/drawing/2014/main" id="{4A4CB556-DA0F-491F-B35A-1676158F2C0B}"/>
              </a:ext>
            </a:extLst>
          </p:cNvPr>
          <p:cNvPicPr>
            <a:picLocks noChangeAspect="1"/>
          </p:cNvPicPr>
          <p:nvPr/>
        </p:nvPicPr>
        <p:blipFill>
          <a:blip r:embed="rId2"/>
          <a:stretch>
            <a:fillRect/>
          </a:stretch>
        </p:blipFill>
        <p:spPr>
          <a:xfrm>
            <a:off x="770781" y="3005660"/>
            <a:ext cx="8345083" cy="1505160"/>
          </a:xfrm>
          <a:prstGeom prst="rect">
            <a:avLst/>
          </a:prstGeom>
        </p:spPr>
      </p:pic>
      <p:pic>
        <p:nvPicPr>
          <p:cNvPr id="8" name="Picture 7">
            <a:extLst>
              <a:ext uri="{FF2B5EF4-FFF2-40B4-BE49-F238E27FC236}">
                <a16:creationId xmlns:a16="http://schemas.microsoft.com/office/drawing/2014/main" id="{9E3BA95B-5E47-4578-B715-4A279F4EAF05}"/>
              </a:ext>
            </a:extLst>
          </p:cNvPr>
          <p:cNvPicPr>
            <a:picLocks noChangeAspect="1"/>
          </p:cNvPicPr>
          <p:nvPr/>
        </p:nvPicPr>
        <p:blipFill>
          <a:blip r:embed="rId3"/>
          <a:stretch>
            <a:fillRect/>
          </a:stretch>
        </p:blipFill>
        <p:spPr>
          <a:xfrm>
            <a:off x="889000" y="4726273"/>
            <a:ext cx="6856642" cy="1927745"/>
          </a:xfrm>
          <a:prstGeom prst="rect">
            <a:avLst/>
          </a:prstGeom>
        </p:spPr>
      </p:pic>
    </p:spTree>
    <p:extLst>
      <p:ext uri="{BB962C8B-B14F-4D97-AF65-F5344CB8AC3E}">
        <p14:creationId xmlns:p14="http://schemas.microsoft.com/office/powerpoint/2010/main" val="1054397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3CDE-69E2-43A1-AA27-8A038FA17A88}"/>
              </a:ext>
            </a:extLst>
          </p:cNvPr>
          <p:cNvSpPr>
            <a:spLocks noGrp="1"/>
          </p:cNvSpPr>
          <p:nvPr>
            <p:ph type="title"/>
          </p:nvPr>
        </p:nvSpPr>
        <p:spPr/>
        <p:txBody>
          <a:bodyPr/>
          <a:lstStyle/>
          <a:p>
            <a:r>
              <a:rPr lang="en-US" dirty="0"/>
              <a:t>TASK 3 TO CONTINUE…..</a:t>
            </a:r>
            <a:endParaRPr lang="en-IN" dirty="0"/>
          </a:p>
        </p:txBody>
      </p:sp>
      <p:sp>
        <p:nvSpPr>
          <p:cNvPr id="4" name="Rectangle 1">
            <a:extLst>
              <a:ext uri="{FF2B5EF4-FFF2-40B4-BE49-F238E27FC236}">
                <a16:creationId xmlns:a16="http://schemas.microsoft.com/office/drawing/2014/main" id="{7068B900-0A37-4252-BF06-D5CE607ADF40}"/>
              </a:ext>
            </a:extLst>
          </p:cNvPr>
          <p:cNvSpPr>
            <a:spLocks noChangeArrowheads="1"/>
          </p:cNvSpPr>
          <p:nvPr/>
        </p:nvSpPr>
        <p:spPr bwMode="auto">
          <a:xfrm>
            <a:off x="689317" y="2359851"/>
            <a:ext cx="1111347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Business Insight: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Routes with a low efficiency ratio (less than 0.5) and traffic delays of more than 30 minutes are the least efficient. These routes are more likely to have delivery delays and higher transportation costs.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Recommendation: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Focus on improving these routes by using better routes, planning delivery schedules, and monitoring traffic during busy hours. This can help reduce delivery delays and improve overall efficiency.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0670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2FDE2-AFAE-4A1E-88FD-E6197C64557A}"/>
              </a:ext>
            </a:extLst>
          </p:cNvPr>
          <p:cNvSpPr>
            <a:spLocks noGrp="1"/>
          </p:cNvSpPr>
          <p:nvPr>
            <p:ph type="title"/>
          </p:nvPr>
        </p:nvSpPr>
        <p:spPr/>
        <p:txBody>
          <a:bodyPr/>
          <a:lstStyle/>
          <a:p>
            <a:pPr algn="ctr"/>
            <a:r>
              <a:rPr lang="en-IN" dirty="0"/>
              <a:t>TASK 4  :Warehouse Performance</a:t>
            </a:r>
          </a:p>
        </p:txBody>
      </p:sp>
      <p:sp>
        <p:nvSpPr>
          <p:cNvPr id="3" name="Content Placeholder 2">
            <a:extLst>
              <a:ext uri="{FF2B5EF4-FFF2-40B4-BE49-F238E27FC236}">
                <a16:creationId xmlns:a16="http://schemas.microsoft.com/office/drawing/2014/main" id="{38864D95-790A-45B9-8C88-F6CEBF43DC34}"/>
              </a:ext>
            </a:extLst>
          </p:cNvPr>
          <p:cNvSpPr>
            <a:spLocks noGrp="1"/>
          </p:cNvSpPr>
          <p:nvPr>
            <p:ph idx="1"/>
          </p:nvPr>
        </p:nvSpPr>
        <p:spPr>
          <a:xfrm>
            <a:off x="746991" y="2189462"/>
            <a:ext cx="8825659" cy="4387184"/>
          </a:xfrm>
        </p:spPr>
        <p:txBody>
          <a:bodyPr/>
          <a:lstStyle/>
          <a:p>
            <a:pPr marL="0" indent="0">
              <a:buNone/>
            </a:pPr>
            <a:r>
              <a:rPr lang="en-IN" sz="1500" b="1" dirty="0">
                <a:latin typeface="Arial" panose="020B0604020202020204" pitchFamily="34" charset="0"/>
                <a:cs typeface="Arial" panose="020B0604020202020204" pitchFamily="34" charset="0"/>
              </a:rPr>
              <a:t>1.</a:t>
            </a:r>
            <a:r>
              <a:rPr lang="en-US" sz="1500" b="1" dirty="0">
                <a:latin typeface="Arial" panose="020B0604020202020204" pitchFamily="34" charset="0"/>
                <a:cs typeface="Arial" panose="020B0604020202020204" pitchFamily="34" charset="0"/>
              </a:rPr>
              <a:t> Top 3 warehouses with highest average processing time</a:t>
            </a:r>
          </a:p>
          <a:p>
            <a:pPr marL="0" indent="0">
              <a:buNone/>
            </a:pPr>
            <a:endParaRPr lang="en-IN" sz="12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5F7D111-791F-4C61-BAA4-B79BA0C46BEE}"/>
              </a:ext>
            </a:extLst>
          </p:cNvPr>
          <p:cNvPicPr>
            <a:picLocks noChangeAspect="1"/>
          </p:cNvPicPr>
          <p:nvPr/>
        </p:nvPicPr>
        <p:blipFill>
          <a:blip r:embed="rId2"/>
          <a:stretch>
            <a:fillRect/>
          </a:stretch>
        </p:blipFill>
        <p:spPr>
          <a:xfrm>
            <a:off x="386140" y="4148106"/>
            <a:ext cx="7273855" cy="985901"/>
          </a:xfrm>
          <a:prstGeom prst="rect">
            <a:avLst/>
          </a:prstGeom>
        </p:spPr>
      </p:pic>
      <p:sp>
        <p:nvSpPr>
          <p:cNvPr id="6" name="Rectangle 2">
            <a:extLst>
              <a:ext uri="{FF2B5EF4-FFF2-40B4-BE49-F238E27FC236}">
                <a16:creationId xmlns:a16="http://schemas.microsoft.com/office/drawing/2014/main" id="{56AC814F-B3C6-48B0-A2A9-99E88CD4A9D1}"/>
              </a:ext>
            </a:extLst>
          </p:cNvPr>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 name="Picture 9">
            <a:extLst>
              <a:ext uri="{FF2B5EF4-FFF2-40B4-BE49-F238E27FC236}">
                <a16:creationId xmlns:a16="http://schemas.microsoft.com/office/drawing/2014/main" id="{F3A5C21C-2D9C-4039-96A9-C1EDF0BC8659}"/>
              </a:ext>
            </a:extLst>
          </p:cNvPr>
          <p:cNvPicPr>
            <a:picLocks noChangeAspect="1"/>
          </p:cNvPicPr>
          <p:nvPr/>
        </p:nvPicPr>
        <p:blipFill>
          <a:blip r:embed="rId3"/>
          <a:stretch>
            <a:fillRect/>
          </a:stretch>
        </p:blipFill>
        <p:spPr>
          <a:xfrm>
            <a:off x="332408" y="2413722"/>
            <a:ext cx="5606696" cy="1747849"/>
          </a:xfrm>
          <a:prstGeom prst="rect">
            <a:avLst/>
          </a:prstGeom>
        </p:spPr>
      </p:pic>
      <p:sp>
        <p:nvSpPr>
          <p:cNvPr id="17" name="TextBox 16">
            <a:extLst>
              <a:ext uri="{FF2B5EF4-FFF2-40B4-BE49-F238E27FC236}">
                <a16:creationId xmlns:a16="http://schemas.microsoft.com/office/drawing/2014/main" id="{EEC62C02-C83B-4911-A0E4-B6A3B74FE940}"/>
              </a:ext>
            </a:extLst>
          </p:cNvPr>
          <p:cNvSpPr txBox="1"/>
          <p:nvPr/>
        </p:nvSpPr>
        <p:spPr>
          <a:xfrm>
            <a:off x="332408" y="5222858"/>
            <a:ext cx="11315641"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Warehouses </a:t>
            </a:r>
            <a:r>
              <a:rPr lang="en-US" sz="1500" b="1" dirty="0">
                <a:latin typeface="Arial" panose="020B0604020202020204" pitchFamily="34" charset="0"/>
                <a:cs typeface="Arial" panose="020B0604020202020204" pitchFamily="34" charset="0"/>
              </a:rPr>
              <a:t>W010</a:t>
            </a:r>
            <a:r>
              <a:rPr lang="en-US" sz="1500" dirty="0">
                <a:latin typeface="Arial" panose="020B0604020202020204" pitchFamily="34" charset="0"/>
                <a:cs typeface="Arial" panose="020B0604020202020204" pitchFamily="34" charset="0"/>
              </a:rPr>
              <a:t>, </a:t>
            </a:r>
            <a:r>
              <a:rPr lang="en-US" sz="1500" b="1" dirty="0">
                <a:latin typeface="Arial" panose="020B0604020202020204" pitchFamily="34" charset="0"/>
                <a:cs typeface="Arial" panose="020B0604020202020204" pitchFamily="34" charset="0"/>
              </a:rPr>
              <a:t>W009</a:t>
            </a:r>
            <a:r>
              <a:rPr lang="en-US" sz="1500" dirty="0">
                <a:latin typeface="Arial" panose="020B0604020202020204" pitchFamily="34" charset="0"/>
                <a:cs typeface="Arial" panose="020B0604020202020204" pitchFamily="34" charset="0"/>
              </a:rPr>
              <a:t>, and </a:t>
            </a:r>
            <a:r>
              <a:rPr lang="en-US" sz="1500" b="1" dirty="0">
                <a:latin typeface="Arial" panose="020B0604020202020204" pitchFamily="34" charset="0"/>
                <a:cs typeface="Arial" panose="020B0604020202020204" pitchFamily="34" charset="0"/>
              </a:rPr>
              <a:t>W007</a:t>
            </a:r>
            <a:r>
              <a:rPr lang="en-US" sz="1500" dirty="0">
                <a:latin typeface="Arial" panose="020B0604020202020204" pitchFamily="34" charset="0"/>
                <a:cs typeface="Arial" panose="020B0604020202020204" pitchFamily="34" charset="0"/>
              </a:rPr>
              <a:t> have the highest average processing times. This means they take longer to process orders, which may cause slower dispatch and delivery delays.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Improve staffing, automate warehouse tasks, and make inventory handling more efficient. This can help reduce processing time and improve delivery performance.</a:t>
            </a:r>
          </a:p>
        </p:txBody>
      </p:sp>
    </p:spTree>
    <p:extLst>
      <p:ext uri="{BB962C8B-B14F-4D97-AF65-F5344CB8AC3E}">
        <p14:creationId xmlns:p14="http://schemas.microsoft.com/office/powerpoint/2010/main" val="2622222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92FFB-CE8C-4651-9B7C-BA1A7B3A35ED}"/>
              </a:ext>
            </a:extLst>
          </p:cNvPr>
          <p:cNvSpPr>
            <a:spLocks noGrp="1"/>
          </p:cNvSpPr>
          <p:nvPr>
            <p:ph type="title"/>
          </p:nvPr>
        </p:nvSpPr>
        <p:spPr/>
        <p:txBody>
          <a:bodyPr/>
          <a:lstStyle/>
          <a:p>
            <a:r>
              <a:rPr lang="en-US" dirty="0"/>
              <a:t>TASK 4 TO CONTINUE…..</a:t>
            </a:r>
            <a:endParaRPr lang="en-IN" dirty="0"/>
          </a:p>
        </p:txBody>
      </p:sp>
      <p:pic>
        <p:nvPicPr>
          <p:cNvPr id="5" name="Picture 4">
            <a:extLst>
              <a:ext uri="{FF2B5EF4-FFF2-40B4-BE49-F238E27FC236}">
                <a16:creationId xmlns:a16="http://schemas.microsoft.com/office/drawing/2014/main" id="{8EDE618A-3B6B-4A04-B44A-F88DEE65826B}"/>
              </a:ext>
            </a:extLst>
          </p:cNvPr>
          <p:cNvPicPr>
            <a:picLocks noChangeAspect="1"/>
          </p:cNvPicPr>
          <p:nvPr/>
        </p:nvPicPr>
        <p:blipFill>
          <a:blip r:embed="rId2"/>
          <a:stretch>
            <a:fillRect/>
          </a:stretch>
        </p:blipFill>
        <p:spPr>
          <a:xfrm>
            <a:off x="371940" y="3868616"/>
            <a:ext cx="9544427" cy="1185203"/>
          </a:xfrm>
          <a:prstGeom prst="rect">
            <a:avLst/>
          </a:prstGeom>
        </p:spPr>
      </p:pic>
      <p:sp>
        <p:nvSpPr>
          <p:cNvPr id="6" name="TextBox 5">
            <a:extLst>
              <a:ext uri="{FF2B5EF4-FFF2-40B4-BE49-F238E27FC236}">
                <a16:creationId xmlns:a16="http://schemas.microsoft.com/office/drawing/2014/main" id="{B3A546AC-0AF8-4E31-A01A-2AB5246D9980}"/>
              </a:ext>
            </a:extLst>
          </p:cNvPr>
          <p:cNvSpPr txBox="1"/>
          <p:nvPr/>
        </p:nvSpPr>
        <p:spPr>
          <a:xfrm>
            <a:off x="281354" y="2224686"/>
            <a:ext cx="8634069" cy="36933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2. </a:t>
            </a:r>
            <a:r>
              <a:rPr lang="en-US" sz="1500" b="1" dirty="0">
                <a:latin typeface="Arial" panose="020B0604020202020204" pitchFamily="34" charset="0"/>
                <a:cs typeface="Arial" panose="020B0604020202020204" pitchFamily="34" charset="0"/>
              </a:rPr>
              <a:t>Calculate total shipments vs delayed shipments for each warehouse</a:t>
            </a:r>
            <a:r>
              <a:rPr lang="en-US" dirty="0"/>
              <a:t>. </a:t>
            </a:r>
            <a:endParaRPr lang="en-IN" b="1" dirty="0"/>
          </a:p>
        </p:txBody>
      </p:sp>
      <p:sp>
        <p:nvSpPr>
          <p:cNvPr id="8" name="Content Placeholder 7">
            <a:extLst>
              <a:ext uri="{FF2B5EF4-FFF2-40B4-BE49-F238E27FC236}">
                <a16:creationId xmlns:a16="http://schemas.microsoft.com/office/drawing/2014/main" id="{B0D78832-772F-4CB7-9DEF-EA8013294E73}"/>
              </a:ext>
            </a:extLst>
          </p:cNvPr>
          <p:cNvSpPr>
            <a:spLocks noGrp="1"/>
          </p:cNvSpPr>
          <p:nvPr>
            <p:ph idx="1"/>
          </p:nvPr>
        </p:nvSpPr>
        <p:spPr>
          <a:xfrm>
            <a:off x="281353" y="2594019"/>
            <a:ext cx="11538705" cy="4263982"/>
          </a:xfrm>
        </p:spPr>
        <p:txBody>
          <a:bodyPr>
            <a:normAutofit/>
          </a:bodyPr>
          <a:lstStyle/>
          <a:p>
            <a:r>
              <a:rPr lang="en-US" sz="1500" dirty="0">
                <a:latin typeface="Arial" panose="020B0604020202020204" pitchFamily="34" charset="0"/>
                <a:cs typeface="Arial" panose="020B0604020202020204" pitchFamily="34" charset="0"/>
              </a:rPr>
              <a:t>SELECT    </a:t>
            </a:r>
            <a:r>
              <a:rPr lang="en-US" sz="1500" dirty="0" err="1">
                <a:latin typeface="Arial" panose="020B0604020202020204" pitchFamily="34" charset="0"/>
                <a:cs typeface="Arial" panose="020B0604020202020204" pitchFamily="34" charset="0"/>
              </a:rPr>
              <a:t>Warehouse_ID</a:t>
            </a:r>
            <a:r>
              <a:rPr lang="en-US" sz="1500" dirty="0">
                <a:latin typeface="Arial" panose="020B0604020202020204" pitchFamily="34" charset="0"/>
                <a:cs typeface="Arial" panose="020B0604020202020204" pitchFamily="34" charset="0"/>
              </a:rPr>
              <a:t>,    COUNT(*) AS </a:t>
            </a:r>
            <a:r>
              <a:rPr lang="en-US" sz="1500" dirty="0" err="1">
                <a:latin typeface="Arial" panose="020B0604020202020204" pitchFamily="34" charset="0"/>
                <a:cs typeface="Arial" panose="020B0604020202020204" pitchFamily="34" charset="0"/>
              </a:rPr>
              <a:t>Total_Orders</a:t>
            </a:r>
            <a:r>
              <a:rPr lang="en-US" sz="1500" dirty="0">
                <a:latin typeface="Arial" panose="020B0604020202020204" pitchFamily="34" charset="0"/>
                <a:cs typeface="Arial" panose="020B0604020202020204" pitchFamily="34" charset="0"/>
              </a:rPr>
              <a:t>,    SUM(        CASE            WHEN </a:t>
            </a:r>
            <a:r>
              <a:rPr lang="en-US" sz="1500" dirty="0" err="1">
                <a:latin typeface="Arial" panose="020B0604020202020204" pitchFamily="34" charset="0"/>
                <a:cs typeface="Arial" panose="020B0604020202020204" pitchFamily="34" charset="0"/>
              </a:rPr>
              <a:t>Actual_Delivery_Date</a:t>
            </a:r>
            <a:r>
              <a:rPr lang="en-US" sz="1500" dirty="0">
                <a:latin typeface="Arial" panose="020B0604020202020204" pitchFamily="34" charset="0"/>
                <a:cs typeface="Arial" panose="020B0604020202020204" pitchFamily="34" charset="0"/>
              </a:rPr>
              <a:t> &gt; </a:t>
            </a:r>
            <a:r>
              <a:rPr lang="en-US" sz="1500" dirty="0" err="1">
                <a:latin typeface="Arial" panose="020B0604020202020204" pitchFamily="34" charset="0"/>
                <a:cs typeface="Arial" panose="020B0604020202020204" pitchFamily="34" charset="0"/>
              </a:rPr>
              <a:t>Expected_Delivery_Date</a:t>
            </a:r>
            <a:r>
              <a:rPr lang="en-US" sz="1500" dirty="0">
                <a:latin typeface="Arial" panose="020B0604020202020204" pitchFamily="34" charset="0"/>
                <a:cs typeface="Arial" panose="020B0604020202020204" pitchFamily="34" charset="0"/>
              </a:rPr>
              <a:t> THEN 1            ELSE 0        END    ) AS </a:t>
            </a:r>
            <a:r>
              <a:rPr lang="en-US" sz="1500" dirty="0" err="1">
                <a:latin typeface="Arial" panose="020B0604020202020204" pitchFamily="34" charset="0"/>
                <a:cs typeface="Arial" panose="020B0604020202020204" pitchFamily="34" charset="0"/>
              </a:rPr>
              <a:t>Delayed_Orders</a:t>
            </a:r>
            <a:r>
              <a:rPr lang="en-US" sz="1500" dirty="0">
                <a:latin typeface="Arial" panose="020B0604020202020204" pitchFamily="34" charset="0"/>
                <a:cs typeface="Arial" panose="020B0604020202020204" pitchFamily="34" charset="0"/>
              </a:rPr>
              <a:t>,    ROUND(        SUM(            CASE                WHEN </a:t>
            </a:r>
            <a:r>
              <a:rPr lang="en-US" sz="1500" dirty="0" err="1">
                <a:latin typeface="Arial" panose="020B0604020202020204" pitchFamily="34" charset="0"/>
                <a:cs typeface="Arial" panose="020B0604020202020204" pitchFamily="34" charset="0"/>
              </a:rPr>
              <a:t>Actual_Delivery_Date</a:t>
            </a:r>
            <a:r>
              <a:rPr lang="en-US" sz="1500" dirty="0">
                <a:latin typeface="Arial" panose="020B0604020202020204" pitchFamily="34" charset="0"/>
                <a:cs typeface="Arial" panose="020B0604020202020204" pitchFamily="34" charset="0"/>
              </a:rPr>
              <a:t> &gt; </a:t>
            </a:r>
            <a:r>
              <a:rPr lang="en-US" sz="1500" dirty="0" err="1">
                <a:latin typeface="Arial" panose="020B0604020202020204" pitchFamily="34" charset="0"/>
                <a:cs typeface="Arial" panose="020B0604020202020204" pitchFamily="34" charset="0"/>
              </a:rPr>
              <a:t>Expected_Delivery_Date</a:t>
            </a:r>
            <a:r>
              <a:rPr lang="en-US" sz="1500" dirty="0">
                <a:latin typeface="Arial" panose="020B0604020202020204" pitchFamily="34" charset="0"/>
                <a:cs typeface="Arial" panose="020B0604020202020204" pitchFamily="34" charset="0"/>
              </a:rPr>
              <a:t> THEN 1                ELSE 0            END        ) * 100.0 / COUNT(*),        2    ) AS </a:t>
            </a:r>
            <a:r>
              <a:rPr lang="en-US" sz="1500" dirty="0" err="1">
                <a:latin typeface="Arial" panose="020B0604020202020204" pitchFamily="34" charset="0"/>
                <a:cs typeface="Arial" panose="020B0604020202020204" pitchFamily="34" charset="0"/>
              </a:rPr>
              <a:t>Delay_PercentageFROM</a:t>
            </a:r>
            <a:r>
              <a:rPr lang="en-US" sz="1500" dirty="0">
                <a:latin typeface="Arial" panose="020B0604020202020204" pitchFamily="34" charset="0"/>
                <a:cs typeface="Arial" panose="020B0604020202020204" pitchFamily="34" charset="0"/>
              </a:rPr>
              <a:t> </a:t>
            </a:r>
            <a:r>
              <a:rPr lang="en-US" sz="1500" dirty="0" err="1">
                <a:latin typeface="Arial" panose="020B0604020202020204" pitchFamily="34" charset="0"/>
                <a:cs typeface="Arial" panose="020B0604020202020204" pitchFamily="34" charset="0"/>
              </a:rPr>
              <a:t>ordersGROUP</a:t>
            </a:r>
            <a:r>
              <a:rPr lang="en-US" sz="1500" dirty="0">
                <a:latin typeface="Arial" panose="020B0604020202020204" pitchFamily="34" charset="0"/>
                <a:cs typeface="Arial" panose="020B0604020202020204" pitchFamily="34" charset="0"/>
              </a:rPr>
              <a:t> BY </a:t>
            </a:r>
            <a:r>
              <a:rPr lang="en-US" sz="1500" dirty="0" err="1">
                <a:latin typeface="Arial" panose="020B0604020202020204" pitchFamily="34" charset="0"/>
                <a:cs typeface="Arial" panose="020B0604020202020204" pitchFamily="34" charset="0"/>
              </a:rPr>
              <a:t>Warehouse_ID</a:t>
            </a:r>
            <a:r>
              <a:rPr lang="en-US" sz="1500" dirty="0">
                <a:latin typeface="Arial" panose="020B0604020202020204" pitchFamily="34" charset="0"/>
                <a:cs typeface="Arial" panose="020B0604020202020204" pitchFamily="34" charset="0"/>
              </a:rPr>
              <a:t>;</a:t>
            </a:r>
            <a:endParaRPr lang="en-IN" sz="15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5D25B8D-427C-49DF-8861-B8187A193DC0}"/>
              </a:ext>
            </a:extLst>
          </p:cNvPr>
          <p:cNvSpPr txBox="1"/>
          <p:nvPr/>
        </p:nvSpPr>
        <p:spPr>
          <a:xfrm>
            <a:off x="281354" y="4990740"/>
            <a:ext cx="11538705"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Warehouses with a high percentage of delayed shipments may have problems in processing or dispatch. These delays can affect customer satisfaction.</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Improve processing speed and delivery planning in warehouses with high delay percentages. This can help reduce delays and improve customer satisfaction.</a:t>
            </a:r>
          </a:p>
        </p:txBody>
      </p:sp>
    </p:spTree>
    <p:extLst>
      <p:ext uri="{BB962C8B-B14F-4D97-AF65-F5344CB8AC3E}">
        <p14:creationId xmlns:p14="http://schemas.microsoft.com/office/powerpoint/2010/main" val="42470932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11359-5B6D-4D6D-BBD3-5228C525A309}"/>
              </a:ext>
            </a:extLst>
          </p:cNvPr>
          <p:cNvSpPr>
            <a:spLocks noGrp="1"/>
          </p:cNvSpPr>
          <p:nvPr>
            <p:ph type="title"/>
          </p:nvPr>
        </p:nvSpPr>
        <p:spPr>
          <a:xfrm>
            <a:off x="1154954" y="973667"/>
            <a:ext cx="10084546" cy="824881"/>
          </a:xfrm>
        </p:spPr>
        <p:txBody>
          <a:bodyPr/>
          <a:lstStyle/>
          <a:p>
            <a:r>
              <a:rPr lang="en-US" dirty="0"/>
              <a:t>TASK 4 TO CONTINUE…..</a:t>
            </a:r>
            <a:endParaRPr lang="en-IN" dirty="0"/>
          </a:p>
        </p:txBody>
      </p:sp>
      <p:sp>
        <p:nvSpPr>
          <p:cNvPr id="3" name="Content Placeholder 2">
            <a:extLst>
              <a:ext uri="{FF2B5EF4-FFF2-40B4-BE49-F238E27FC236}">
                <a16:creationId xmlns:a16="http://schemas.microsoft.com/office/drawing/2014/main" id="{D63B1C8F-8701-4651-B661-E87BC7CA3F39}"/>
              </a:ext>
            </a:extLst>
          </p:cNvPr>
          <p:cNvSpPr>
            <a:spLocks noGrp="1"/>
          </p:cNvSpPr>
          <p:nvPr>
            <p:ph idx="1"/>
          </p:nvPr>
        </p:nvSpPr>
        <p:spPr>
          <a:xfrm>
            <a:off x="281354" y="2250830"/>
            <a:ext cx="11313746" cy="5641145"/>
          </a:xfrm>
        </p:spPr>
        <p:txBody>
          <a:bodyPr>
            <a:normAutofit lnSpcReduction="10000"/>
          </a:bodyPr>
          <a:lstStyle/>
          <a:p>
            <a:r>
              <a:rPr lang="en-US" sz="1500" b="1" dirty="0">
                <a:latin typeface="Arial" panose="020B0604020202020204" pitchFamily="34" charset="0"/>
                <a:cs typeface="Arial" panose="020B0604020202020204" pitchFamily="34" charset="0"/>
              </a:rPr>
              <a:t>3. Use CTEs to identify warehouses where average delay exceeds the global average delay.</a:t>
            </a:r>
          </a:p>
          <a:p>
            <a:endParaRPr lang="en-US" sz="1500" b="1"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Rank agents (per route) by On-Time Delivery Percentage</a:t>
            </a:r>
          </a:p>
          <a:p>
            <a:endParaRPr lang="en-US" dirty="0"/>
          </a:p>
          <a:p>
            <a:endParaRPr lang="en-US" dirty="0"/>
          </a:p>
          <a:p>
            <a:endParaRPr lang="en-US" dirty="0"/>
          </a:p>
          <a:p>
            <a:endParaRPr lang="en-US" dirty="0"/>
          </a:p>
        </p:txBody>
      </p:sp>
      <p:pic>
        <p:nvPicPr>
          <p:cNvPr id="8" name="Picture 7">
            <a:extLst>
              <a:ext uri="{FF2B5EF4-FFF2-40B4-BE49-F238E27FC236}">
                <a16:creationId xmlns:a16="http://schemas.microsoft.com/office/drawing/2014/main" id="{75A143E0-4A97-4DC6-98EF-DA9AB3769606}"/>
              </a:ext>
            </a:extLst>
          </p:cNvPr>
          <p:cNvPicPr>
            <a:picLocks noChangeAspect="1"/>
          </p:cNvPicPr>
          <p:nvPr/>
        </p:nvPicPr>
        <p:blipFill>
          <a:blip r:embed="rId2"/>
          <a:stretch>
            <a:fillRect/>
          </a:stretch>
        </p:blipFill>
        <p:spPr>
          <a:xfrm>
            <a:off x="478301" y="2658795"/>
            <a:ext cx="8510954" cy="2785402"/>
          </a:xfrm>
          <a:prstGeom prst="rect">
            <a:avLst/>
          </a:prstGeom>
        </p:spPr>
      </p:pic>
      <p:pic>
        <p:nvPicPr>
          <p:cNvPr id="10" name="Picture 9">
            <a:extLst>
              <a:ext uri="{FF2B5EF4-FFF2-40B4-BE49-F238E27FC236}">
                <a16:creationId xmlns:a16="http://schemas.microsoft.com/office/drawing/2014/main" id="{B9674975-B54E-4A2F-9FBF-C1F1CDD9BADC}"/>
              </a:ext>
            </a:extLst>
          </p:cNvPr>
          <p:cNvPicPr>
            <a:picLocks noChangeAspect="1"/>
          </p:cNvPicPr>
          <p:nvPr/>
        </p:nvPicPr>
        <p:blipFill>
          <a:blip r:embed="rId3"/>
          <a:stretch>
            <a:fillRect/>
          </a:stretch>
        </p:blipFill>
        <p:spPr>
          <a:xfrm>
            <a:off x="478301" y="5570808"/>
            <a:ext cx="4106363" cy="1245680"/>
          </a:xfrm>
          <a:prstGeom prst="rect">
            <a:avLst/>
          </a:prstGeom>
        </p:spPr>
      </p:pic>
    </p:spTree>
    <p:extLst>
      <p:ext uri="{BB962C8B-B14F-4D97-AF65-F5344CB8AC3E}">
        <p14:creationId xmlns:p14="http://schemas.microsoft.com/office/powerpoint/2010/main" val="1799899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7ECF9-EE10-4BB1-A9AD-7DF3724269DA}"/>
              </a:ext>
            </a:extLst>
          </p:cNvPr>
          <p:cNvSpPr>
            <a:spLocks noGrp="1"/>
          </p:cNvSpPr>
          <p:nvPr>
            <p:ph type="title"/>
          </p:nvPr>
        </p:nvSpPr>
        <p:spPr/>
        <p:txBody>
          <a:bodyPr/>
          <a:lstStyle/>
          <a:p>
            <a:r>
              <a:rPr lang="en-US" dirty="0"/>
              <a:t>TASK 4 TO CONTINUE…..</a:t>
            </a:r>
            <a:endParaRPr lang="en-IN" dirty="0"/>
          </a:p>
        </p:txBody>
      </p:sp>
      <p:sp>
        <p:nvSpPr>
          <p:cNvPr id="3" name="Content Placeholder 2">
            <a:extLst>
              <a:ext uri="{FF2B5EF4-FFF2-40B4-BE49-F238E27FC236}">
                <a16:creationId xmlns:a16="http://schemas.microsoft.com/office/drawing/2014/main" id="{0E9107D8-0D9E-44DC-BD0A-BC9076AD025B}"/>
              </a:ext>
            </a:extLst>
          </p:cNvPr>
          <p:cNvSpPr>
            <a:spLocks noGrp="1"/>
          </p:cNvSpPr>
          <p:nvPr>
            <p:ph idx="1"/>
          </p:nvPr>
        </p:nvSpPr>
        <p:spPr>
          <a:xfrm>
            <a:off x="379828" y="2180492"/>
            <a:ext cx="9600785" cy="5022166"/>
          </a:xfrm>
        </p:spPr>
        <p:txBody>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Warehouses with processing times higher than the overall average are taking longer to process orders. These warehouses may be causing delivery delays and reducing overall efficiency.</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Improve the workflow, increase staff if needed, and automate repetitive tasks in these warehouses. This can help speed up order processing and improve delivery performance</a:t>
            </a:r>
            <a:r>
              <a:rPr lang="en-US" dirty="0"/>
              <a:t>.</a:t>
            </a:r>
          </a:p>
          <a:p>
            <a:pPr marL="0" indent="0">
              <a:buNone/>
            </a:pPr>
            <a:r>
              <a:rPr lang="en-US" sz="1500" b="1" dirty="0">
                <a:latin typeface="Arial" panose="020B0604020202020204" pitchFamily="34" charset="0"/>
                <a:cs typeface="Arial" panose="020B0604020202020204" pitchFamily="34" charset="0"/>
              </a:rPr>
              <a:t>3. Rank all warehouses based on on-time delivery percentage</a:t>
            </a:r>
          </a:p>
          <a:p>
            <a:pPr marL="0" indent="0">
              <a:buNone/>
            </a:pPr>
            <a:endParaRPr lang="en-IN" sz="1500"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396D5DA8-5DCE-445E-BE5D-F31559D917C0}"/>
              </a:ext>
            </a:extLst>
          </p:cNvPr>
          <p:cNvPicPr>
            <a:picLocks noChangeAspect="1"/>
          </p:cNvPicPr>
          <p:nvPr/>
        </p:nvPicPr>
        <p:blipFill>
          <a:blip r:embed="rId2"/>
          <a:stretch>
            <a:fillRect/>
          </a:stretch>
        </p:blipFill>
        <p:spPr>
          <a:xfrm>
            <a:off x="379828" y="4425734"/>
            <a:ext cx="11432343" cy="2432266"/>
          </a:xfrm>
          <a:prstGeom prst="rect">
            <a:avLst/>
          </a:prstGeom>
        </p:spPr>
      </p:pic>
    </p:spTree>
    <p:extLst>
      <p:ext uri="{BB962C8B-B14F-4D97-AF65-F5344CB8AC3E}">
        <p14:creationId xmlns:p14="http://schemas.microsoft.com/office/powerpoint/2010/main" val="3683708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8800-CFE3-4578-A51E-43730241B5DB}"/>
              </a:ext>
            </a:extLst>
          </p:cNvPr>
          <p:cNvSpPr>
            <a:spLocks noGrp="1"/>
          </p:cNvSpPr>
          <p:nvPr>
            <p:ph type="title"/>
          </p:nvPr>
        </p:nvSpPr>
        <p:spPr>
          <a:xfrm>
            <a:off x="596472" y="973668"/>
            <a:ext cx="9319895" cy="706964"/>
          </a:xfrm>
        </p:spPr>
        <p:txBody>
          <a:bodyPr/>
          <a:lstStyle/>
          <a:p>
            <a:r>
              <a:rPr lang="en-US" dirty="0"/>
              <a:t>TASK 4 TO CONTINUE…..</a:t>
            </a:r>
            <a:endParaRPr lang="en-IN" dirty="0"/>
          </a:p>
        </p:txBody>
      </p:sp>
      <p:sp>
        <p:nvSpPr>
          <p:cNvPr id="7" name="TextBox 6">
            <a:extLst>
              <a:ext uri="{FF2B5EF4-FFF2-40B4-BE49-F238E27FC236}">
                <a16:creationId xmlns:a16="http://schemas.microsoft.com/office/drawing/2014/main" id="{F1625D04-59B9-4767-B1E4-E18D63CEF843}"/>
              </a:ext>
            </a:extLst>
          </p:cNvPr>
          <p:cNvSpPr txBox="1"/>
          <p:nvPr/>
        </p:nvSpPr>
        <p:spPr>
          <a:xfrm>
            <a:off x="596471" y="4712051"/>
            <a:ext cx="10502937"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warehouses were ranked based on their on-time delivery percentage. </a:t>
            </a:r>
            <a:r>
              <a:rPr lang="en-US" sz="1500" b="1" dirty="0">
                <a:latin typeface="Arial" panose="020B0604020202020204" pitchFamily="34" charset="0"/>
                <a:cs typeface="Arial" panose="020B0604020202020204" pitchFamily="34" charset="0"/>
              </a:rPr>
              <a:t>W008</a:t>
            </a:r>
            <a:r>
              <a:rPr lang="en-US" sz="1500" dirty="0">
                <a:latin typeface="Arial" panose="020B0604020202020204" pitchFamily="34" charset="0"/>
                <a:cs typeface="Arial" panose="020B0604020202020204" pitchFamily="34" charset="0"/>
              </a:rPr>
              <a:t> has the highest on-time delivery rate (</a:t>
            </a:r>
            <a:r>
              <a:rPr lang="en-US" sz="1500" b="1" dirty="0">
                <a:latin typeface="Arial" panose="020B0604020202020204" pitchFamily="34" charset="0"/>
                <a:cs typeface="Arial" panose="020B0604020202020204" pitchFamily="34" charset="0"/>
              </a:rPr>
              <a:t>76.19%</a:t>
            </a:r>
            <a:r>
              <a:rPr lang="en-US" sz="1500" dirty="0">
                <a:latin typeface="Arial" panose="020B0604020202020204" pitchFamily="34" charset="0"/>
                <a:cs typeface="Arial" panose="020B0604020202020204" pitchFamily="34" charset="0"/>
              </a:rPr>
              <a:t>), showing better delivery performance than the other warehouses.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Study the processes used by </a:t>
            </a:r>
            <a:r>
              <a:rPr lang="en-US" sz="1500" b="1" dirty="0">
                <a:latin typeface="Arial" panose="020B0604020202020204" pitchFamily="34" charset="0"/>
                <a:cs typeface="Arial" panose="020B0604020202020204" pitchFamily="34" charset="0"/>
              </a:rPr>
              <a:t>W008</a:t>
            </a:r>
            <a:r>
              <a:rPr lang="en-US" sz="1500" dirty="0">
                <a:latin typeface="Arial" panose="020B0604020202020204" pitchFamily="34" charset="0"/>
                <a:cs typeface="Arial" panose="020B0604020202020204" pitchFamily="34" charset="0"/>
              </a:rPr>
              <a:t> and apply the same best practices in other warehouses to improve their on-time delivery performance.</a:t>
            </a:r>
          </a:p>
        </p:txBody>
      </p:sp>
      <p:pic>
        <p:nvPicPr>
          <p:cNvPr id="8" name="Picture 7">
            <a:extLst>
              <a:ext uri="{FF2B5EF4-FFF2-40B4-BE49-F238E27FC236}">
                <a16:creationId xmlns:a16="http://schemas.microsoft.com/office/drawing/2014/main" id="{11C82EA1-C1F2-4217-86FC-CA9D36BBA0CD}"/>
              </a:ext>
            </a:extLst>
          </p:cNvPr>
          <p:cNvPicPr>
            <a:picLocks noChangeAspect="1"/>
          </p:cNvPicPr>
          <p:nvPr/>
        </p:nvPicPr>
        <p:blipFill>
          <a:blip r:embed="rId2"/>
          <a:stretch>
            <a:fillRect/>
          </a:stretch>
        </p:blipFill>
        <p:spPr>
          <a:xfrm>
            <a:off x="596470" y="2291938"/>
            <a:ext cx="7870635" cy="2395128"/>
          </a:xfrm>
          <a:prstGeom prst="rect">
            <a:avLst/>
          </a:prstGeom>
        </p:spPr>
      </p:pic>
    </p:spTree>
    <p:extLst>
      <p:ext uri="{BB962C8B-B14F-4D97-AF65-F5344CB8AC3E}">
        <p14:creationId xmlns:p14="http://schemas.microsoft.com/office/powerpoint/2010/main" val="1631054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15B2-ED17-476E-9737-9D3638B77D55}"/>
              </a:ext>
            </a:extLst>
          </p:cNvPr>
          <p:cNvSpPr>
            <a:spLocks noGrp="1"/>
          </p:cNvSpPr>
          <p:nvPr>
            <p:ph type="title"/>
          </p:nvPr>
        </p:nvSpPr>
        <p:spPr/>
        <p:txBody>
          <a:bodyPr/>
          <a:lstStyle/>
          <a:p>
            <a:r>
              <a:rPr lang="en-US" dirty="0"/>
              <a:t>TASK 5: Delivery Agent Performance</a:t>
            </a:r>
            <a:endParaRPr lang="en-IN" dirty="0"/>
          </a:p>
        </p:txBody>
      </p:sp>
      <p:sp>
        <p:nvSpPr>
          <p:cNvPr id="3" name="Content Placeholder 2">
            <a:extLst>
              <a:ext uri="{FF2B5EF4-FFF2-40B4-BE49-F238E27FC236}">
                <a16:creationId xmlns:a16="http://schemas.microsoft.com/office/drawing/2014/main" id="{DC6CF964-3E28-40A2-9026-9A2748A68C26}"/>
              </a:ext>
            </a:extLst>
          </p:cNvPr>
          <p:cNvSpPr>
            <a:spLocks noGrp="1"/>
          </p:cNvSpPr>
          <p:nvPr>
            <p:ph idx="1"/>
          </p:nvPr>
        </p:nvSpPr>
        <p:spPr>
          <a:xfrm>
            <a:off x="406400" y="2324100"/>
            <a:ext cx="11455400" cy="4906694"/>
          </a:xfrm>
        </p:spPr>
        <p:txBody>
          <a:bodyPr/>
          <a:lstStyle/>
          <a:p>
            <a:pPr marL="0" indent="0">
              <a:buNone/>
            </a:pPr>
            <a:r>
              <a:rPr lang="en-US" dirty="0"/>
              <a:t>Rank agents (per route) by On-Time Delivery Percentage</a:t>
            </a:r>
          </a:p>
          <a:p>
            <a:pPr marL="0" indent="0">
              <a:buNone/>
            </a:pPr>
            <a:endParaRPr lang="en-US" dirty="0"/>
          </a:p>
          <a:p>
            <a:pPr marL="0" indent="0">
              <a:buNone/>
            </a:pPr>
            <a:endParaRPr lang="en-US" dirty="0"/>
          </a:p>
          <a:p>
            <a:pPr marL="0" indent="0">
              <a:buNone/>
            </a:pPr>
            <a:endParaRPr lang="en-IN" sz="12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6EFAF949-3721-4463-B37A-E62D9437E405}"/>
              </a:ext>
            </a:extLst>
          </p:cNvPr>
          <p:cNvPicPr>
            <a:picLocks noChangeAspect="1"/>
          </p:cNvPicPr>
          <p:nvPr/>
        </p:nvPicPr>
        <p:blipFill>
          <a:blip r:embed="rId2"/>
          <a:stretch>
            <a:fillRect/>
          </a:stretch>
        </p:blipFill>
        <p:spPr>
          <a:xfrm>
            <a:off x="406400" y="4899366"/>
            <a:ext cx="7785846" cy="1130300"/>
          </a:xfrm>
          <a:prstGeom prst="rect">
            <a:avLst/>
          </a:prstGeom>
        </p:spPr>
      </p:pic>
      <p:pic>
        <p:nvPicPr>
          <p:cNvPr id="6" name="Picture 5">
            <a:extLst>
              <a:ext uri="{FF2B5EF4-FFF2-40B4-BE49-F238E27FC236}">
                <a16:creationId xmlns:a16="http://schemas.microsoft.com/office/drawing/2014/main" id="{2BB322C0-2B9A-4337-8041-F275493D355B}"/>
              </a:ext>
            </a:extLst>
          </p:cNvPr>
          <p:cNvPicPr>
            <a:picLocks noChangeAspect="1"/>
          </p:cNvPicPr>
          <p:nvPr/>
        </p:nvPicPr>
        <p:blipFill>
          <a:blip r:embed="rId3"/>
          <a:stretch>
            <a:fillRect/>
          </a:stretch>
        </p:blipFill>
        <p:spPr>
          <a:xfrm>
            <a:off x="330199" y="2718560"/>
            <a:ext cx="6577037" cy="2105319"/>
          </a:xfrm>
          <a:prstGeom prst="rect">
            <a:avLst/>
          </a:prstGeom>
        </p:spPr>
      </p:pic>
    </p:spTree>
    <p:extLst>
      <p:ext uri="{BB962C8B-B14F-4D97-AF65-F5344CB8AC3E}">
        <p14:creationId xmlns:p14="http://schemas.microsoft.com/office/powerpoint/2010/main" val="2724415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CE80-9AA2-4B4A-9F57-9F663751E25A}"/>
              </a:ext>
            </a:extLst>
          </p:cNvPr>
          <p:cNvSpPr>
            <a:spLocks noGrp="1"/>
          </p:cNvSpPr>
          <p:nvPr>
            <p:ph type="title"/>
          </p:nvPr>
        </p:nvSpPr>
        <p:spPr/>
        <p:txBody>
          <a:bodyPr/>
          <a:lstStyle/>
          <a:p>
            <a:r>
              <a:rPr lang="en-US" dirty="0"/>
              <a:t>TASK 5 TO CONTINUE…..</a:t>
            </a:r>
            <a:endParaRPr lang="en-IN" dirty="0"/>
          </a:p>
        </p:txBody>
      </p:sp>
      <p:sp>
        <p:nvSpPr>
          <p:cNvPr id="3" name="Content Placeholder 2">
            <a:extLst>
              <a:ext uri="{FF2B5EF4-FFF2-40B4-BE49-F238E27FC236}">
                <a16:creationId xmlns:a16="http://schemas.microsoft.com/office/drawing/2014/main" id="{157C43DD-9A4F-4C81-AF80-81AF879EAB0A}"/>
              </a:ext>
            </a:extLst>
          </p:cNvPr>
          <p:cNvSpPr>
            <a:spLocks noGrp="1"/>
          </p:cNvSpPr>
          <p:nvPr>
            <p:ph idx="1"/>
          </p:nvPr>
        </p:nvSpPr>
        <p:spPr>
          <a:xfrm>
            <a:off x="393896" y="2603500"/>
            <a:ext cx="9586718" cy="3416300"/>
          </a:xfrm>
        </p:spPr>
        <p:txBody>
          <a:bodyPr/>
          <a:lstStyle/>
          <a:p>
            <a:pPr marL="0" indent="0">
              <a:buNone/>
            </a:pPr>
            <a:endParaRPr lang="en-US" dirty="0"/>
          </a:p>
          <a:p>
            <a:pPr marL="0" indent="0">
              <a:buNone/>
            </a:pPr>
            <a:endParaRPr lang="en-US" sz="1500" b="1" dirty="0">
              <a:latin typeface="Arial" panose="020B0604020202020204" pitchFamily="34" charset="0"/>
              <a:cs typeface="Arial" panose="020B0604020202020204" pitchFamily="34" charset="0"/>
            </a:endParaRPr>
          </a:p>
          <a:p>
            <a:pPr marL="0" indent="0">
              <a:buNone/>
            </a:pPr>
            <a:r>
              <a:rPr lang="en-US" sz="1500" b="1" dirty="0">
                <a:latin typeface="Arial" panose="020B0604020202020204" pitchFamily="34" charset="0"/>
                <a:cs typeface="Arial" panose="020B0604020202020204" pitchFamily="34" charset="0"/>
              </a:rPr>
              <a:t>2. Find agents with On-Time Percentage less than 80%</a:t>
            </a:r>
          </a:p>
        </p:txBody>
      </p:sp>
      <p:pic>
        <p:nvPicPr>
          <p:cNvPr id="4" name="Picture 3">
            <a:extLst>
              <a:ext uri="{FF2B5EF4-FFF2-40B4-BE49-F238E27FC236}">
                <a16:creationId xmlns:a16="http://schemas.microsoft.com/office/drawing/2014/main" id="{C8CEDDE3-DB91-4C20-9A73-ED11C91D96A0}"/>
              </a:ext>
            </a:extLst>
          </p:cNvPr>
          <p:cNvPicPr>
            <a:picLocks noChangeAspect="1"/>
          </p:cNvPicPr>
          <p:nvPr/>
        </p:nvPicPr>
        <p:blipFill>
          <a:blip r:embed="rId2"/>
          <a:stretch>
            <a:fillRect/>
          </a:stretch>
        </p:blipFill>
        <p:spPr>
          <a:xfrm>
            <a:off x="355017" y="5439986"/>
            <a:ext cx="8654957" cy="1238423"/>
          </a:xfrm>
          <a:prstGeom prst="rect">
            <a:avLst/>
          </a:prstGeom>
        </p:spPr>
      </p:pic>
      <p:sp>
        <p:nvSpPr>
          <p:cNvPr id="5" name="TextBox 4">
            <a:extLst>
              <a:ext uri="{FF2B5EF4-FFF2-40B4-BE49-F238E27FC236}">
                <a16:creationId xmlns:a16="http://schemas.microsoft.com/office/drawing/2014/main" id="{7E73D24D-54AF-41BE-A1C9-05E4CC9332B6}"/>
              </a:ext>
            </a:extLst>
          </p:cNvPr>
          <p:cNvSpPr txBox="1"/>
          <p:nvPr/>
        </p:nvSpPr>
        <p:spPr>
          <a:xfrm>
            <a:off x="393895" y="2024639"/>
            <a:ext cx="10213145"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Delivery agents are ranked by their on-time delivery percentage for each route. Some routes have top-performing agents, while others have agents with lower on-time delivery rates who may need support or training.</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Use the working methods of the best-performing agents as an example. Provide training and balance the workload for lower-performing agents to improve delivery performance.</a:t>
            </a:r>
          </a:p>
        </p:txBody>
      </p:sp>
      <p:pic>
        <p:nvPicPr>
          <p:cNvPr id="7" name="Picture 6">
            <a:extLst>
              <a:ext uri="{FF2B5EF4-FFF2-40B4-BE49-F238E27FC236}">
                <a16:creationId xmlns:a16="http://schemas.microsoft.com/office/drawing/2014/main" id="{853C9564-4F16-4299-82F3-A17F80514108}"/>
              </a:ext>
            </a:extLst>
          </p:cNvPr>
          <p:cNvPicPr>
            <a:picLocks noChangeAspect="1"/>
          </p:cNvPicPr>
          <p:nvPr/>
        </p:nvPicPr>
        <p:blipFill>
          <a:blip r:embed="rId3"/>
          <a:stretch>
            <a:fillRect/>
          </a:stretch>
        </p:blipFill>
        <p:spPr>
          <a:xfrm>
            <a:off x="393895" y="3793903"/>
            <a:ext cx="5866228" cy="1477328"/>
          </a:xfrm>
          <a:prstGeom prst="rect">
            <a:avLst/>
          </a:prstGeom>
        </p:spPr>
      </p:pic>
    </p:spTree>
    <p:extLst>
      <p:ext uri="{BB962C8B-B14F-4D97-AF65-F5344CB8AC3E}">
        <p14:creationId xmlns:p14="http://schemas.microsoft.com/office/powerpoint/2010/main" val="3338840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1102-712B-43AC-9D44-E967A3AB4C12}"/>
              </a:ext>
            </a:extLst>
          </p:cNvPr>
          <p:cNvSpPr>
            <a:spLocks noGrp="1"/>
          </p:cNvSpPr>
          <p:nvPr>
            <p:ph type="title"/>
          </p:nvPr>
        </p:nvSpPr>
        <p:spPr>
          <a:xfrm>
            <a:off x="1090708" y="718528"/>
            <a:ext cx="8825659" cy="962104"/>
          </a:xfrm>
        </p:spPr>
        <p:txBody>
          <a:bodyPr/>
          <a:lstStyle/>
          <a:p>
            <a:r>
              <a:rPr lang="en-US" dirty="0"/>
              <a:t>TASK 5 TO CONTINUE…..</a:t>
            </a:r>
            <a:endParaRPr lang="en-IN" dirty="0"/>
          </a:p>
        </p:txBody>
      </p:sp>
      <p:sp>
        <p:nvSpPr>
          <p:cNvPr id="3" name="Content Placeholder 2">
            <a:extLst>
              <a:ext uri="{FF2B5EF4-FFF2-40B4-BE49-F238E27FC236}">
                <a16:creationId xmlns:a16="http://schemas.microsoft.com/office/drawing/2014/main" id="{67BAB01A-A5A5-4FEF-94D3-8A847611E524}"/>
              </a:ext>
            </a:extLst>
          </p:cNvPr>
          <p:cNvSpPr>
            <a:spLocks noGrp="1"/>
          </p:cNvSpPr>
          <p:nvPr>
            <p:ph idx="1"/>
          </p:nvPr>
        </p:nvSpPr>
        <p:spPr>
          <a:xfrm>
            <a:off x="228600" y="1574732"/>
            <a:ext cx="11557000" cy="4720168"/>
          </a:xfrm>
        </p:spPr>
        <p:txBody>
          <a:bodyPr>
            <a:normAutofit/>
          </a:bodyPr>
          <a:lstStyle/>
          <a:p>
            <a:pPr marL="0" indent="0">
              <a:buNone/>
            </a:pPr>
            <a:endParaRPr lang="en-US" dirty="0"/>
          </a:p>
          <a:p>
            <a:r>
              <a:rPr lang="en-US" b="1" dirty="0">
                <a:latin typeface="Arial" panose="020B0604020202020204" pitchFamily="34" charset="0"/>
                <a:cs typeface="Arial" panose="020B0604020202020204" pitchFamily="34" charset="0"/>
              </a:rPr>
              <a:t>Business Insight:</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Nine delivery agents have an on-time delivery rate below </a:t>
            </a:r>
            <a:r>
              <a:rPr lang="en-US" b="1" dirty="0">
                <a:latin typeface="Arial" panose="020B0604020202020204" pitchFamily="34" charset="0"/>
                <a:cs typeface="Arial" panose="020B0604020202020204" pitchFamily="34" charset="0"/>
              </a:rPr>
              <a:t>80%</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Agent A010</a:t>
            </a:r>
            <a:r>
              <a:rPr lang="en-US" dirty="0">
                <a:latin typeface="Arial" panose="020B0604020202020204" pitchFamily="34" charset="0"/>
                <a:cs typeface="Arial" panose="020B0604020202020204" pitchFamily="34" charset="0"/>
              </a:rPr>
              <a:t> has the lowest performance at </a:t>
            </a:r>
            <a:r>
              <a:rPr lang="en-US" b="1" dirty="0">
                <a:latin typeface="Arial" panose="020B0604020202020204" pitchFamily="34" charset="0"/>
                <a:cs typeface="Arial" panose="020B0604020202020204" pitchFamily="34" charset="0"/>
              </a:rPr>
              <a:t>70.45%</a:t>
            </a:r>
            <a:r>
              <a:rPr lang="en-US" dirty="0">
                <a:latin typeface="Arial" panose="020B0604020202020204" pitchFamily="34" charset="0"/>
                <a:cs typeface="Arial" panose="020B0604020202020204" pitchFamily="34" charset="0"/>
              </a:rPr>
              <a:t>, so these agents may need extra support to improve.</a:t>
            </a:r>
          </a:p>
          <a:p>
            <a:r>
              <a:rPr lang="en-US" b="1" dirty="0">
                <a:latin typeface="Arial" panose="020B0604020202020204" pitchFamily="34" charset="0"/>
                <a:cs typeface="Arial" panose="020B0604020202020204" pitchFamily="34" charset="0"/>
              </a:rPr>
              <a:t>Recommendation: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Provide training to these agents, review their delivery assignments, and check their performance regularly. They can also learn from the working methods of top-performing agents to improve their on-time delivery rate.</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IN"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5A123F0-A00E-4651-9930-69B30BD400E6}"/>
              </a:ext>
            </a:extLst>
          </p:cNvPr>
          <p:cNvSpPr txBox="1"/>
          <p:nvPr/>
        </p:nvSpPr>
        <p:spPr>
          <a:xfrm>
            <a:off x="406400" y="5852160"/>
            <a:ext cx="11379200" cy="369332"/>
          </a:xfrm>
          <a:prstGeom prst="rect">
            <a:avLst/>
          </a:prstGeom>
          <a:noFill/>
        </p:spPr>
        <p:txBody>
          <a:bodyPr wrap="square">
            <a:spAutoFit/>
          </a:bodyPr>
          <a:lstStyle/>
          <a:p>
            <a:r>
              <a:rPr lang="en-IN" dirty="0"/>
              <a:t> </a:t>
            </a:r>
            <a:r>
              <a:rPr lang="en-US" dirty="0"/>
              <a:t> </a:t>
            </a:r>
            <a:endParaRPr lang="en-IN" dirty="0"/>
          </a:p>
        </p:txBody>
      </p:sp>
      <p:pic>
        <p:nvPicPr>
          <p:cNvPr id="8" name="Picture 7">
            <a:extLst>
              <a:ext uri="{FF2B5EF4-FFF2-40B4-BE49-F238E27FC236}">
                <a16:creationId xmlns:a16="http://schemas.microsoft.com/office/drawing/2014/main" id="{5663CE3A-13F9-42DE-8708-8A06422470FE}"/>
              </a:ext>
            </a:extLst>
          </p:cNvPr>
          <p:cNvPicPr>
            <a:picLocks noChangeAspect="1"/>
          </p:cNvPicPr>
          <p:nvPr/>
        </p:nvPicPr>
        <p:blipFill>
          <a:blip r:embed="rId2"/>
          <a:stretch>
            <a:fillRect/>
          </a:stretch>
        </p:blipFill>
        <p:spPr>
          <a:xfrm>
            <a:off x="350128" y="4662427"/>
            <a:ext cx="7190154" cy="2036583"/>
          </a:xfrm>
          <a:prstGeom prst="rect">
            <a:avLst/>
          </a:prstGeom>
        </p:spPr>
      </p:pic>
      <p:sp>
        <p:nvSpPr>
          <p:cNvPr id="9" name="TextBox 8">
            <a:extLst>
              <a:ext uri="{FF2B5EF4-FFF2-40B4-BE49-F238E27FC236}">
                <a16:creationId xmlns:a16="http://schemas.microsoft.com/office/drawing/2014/main" id="{0D34F044-F5C1-41BE-8562-2486939F5E3E}"/>
              </a:ext>
            </a:extLst>
          </p:cNvPr>
          <p:cNvSpPr txBox="1"/>
          <p:nvPr/>
        </p:nvSpPr>
        <p:spPr>
          <a:xfrm>
            <a:off x="249699" y="4246661"/>
            <a:ext cx="6098344" cy="369332"/>
          </a:xfrm>
          <a:prstGeom prst="rect">
            <a:avLst/>
          </a:prstGeom>
          <a:noFill/>
        </p:spPr>
        <p:txBody>
          <a:bodyPr wrap="square">
            <a:spAutoFit/>
          </a:bodyPr>
          <a:lstStyle/>
          <a:p>
            <a:r>
              <a:rPr lang="en-IN" sz="1800" b="1" dirty="0">
                <a:latin typeface="Arial" panose="020B0604020202020204" pitchFamily="34" charset="0"/>
                <a:cs typeface="Arial" panose="020B0604020202020204" pitchFamily="34" charset="0"/>
              </a:rPr>
              <a:t>3. Compare Average Speed of Top 5 Agents</a:t>
            </a:r>
          </a:p>
        </p:txBody>
      </p:sp>
    </p:spTree>
    <p:extLst>
      <p:ext uri="{BB962C8B-B14F-4D97-AF65-F5344CB8AC3E}">
        <p14:creationId xmlns:p14="http://schemas.microsoft.com/office/powerpoint/2010/main" val="38354693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C0A83-EA39-46A6-88D6-5EDD37FEF25E}"/>
              </a:ext>
            </a:extLst>
          </p:cNvPr>
          <p:cNvSpPr>
            <a:spLocks noGrp="1"/>
          </p:cNvSpPr>
          <p:nvPr>
            <p:ph type="title"/>
          </p:nvPr>
        </p:nvSpPr>
        <p:spPr/>
        <p:txBody>
          <a:bodyPr/>
          <a:lstStyle/>
          <a:p>
            <a:r>
              <a:rPr lang="en-US" dirty="0"/>
              <a:t>TASK 5 TO CONTINUE…..</a:t>
            </a:r>
            <a:endParaRPr lang="en-IN" dirty="0"/>
          </a:p>
        </p:txBody>
      </p:sp>
      <p:pic>
        <p:nvPicPr>
          <p:cNvPr id="4" name="Content Placeholder 3">
            <a:extLst>
              <a:ext uri="{FF2B5EF4-FFF2-40B4-BE49-F238E27FC236}">
                <a16:creationId xmlns:a16="http://schemas.microsoft.com/office/drawing/2014/main" id="{CD21498C-AE31-41BA-BB38-7BC7BACA38CE}"/>
              </a:ext>
            </a:extLst>
          </p:cNvPr>
          <p:cNvPicPr>
            <a:picLocks noGrp="1" noChangeAspect="1"/>
          </p:cNvPicPr>
          <p:nvPr>
            <p:ph idx="1"/>
          </p:nvPr>
        </p:nvPicPr>
        <p:blipFill>
          <a:blip r:embed="rId2"/>
          <a:stretch>
            <a:fillRect/>
          </a:stretch>
        </p:blipFill>
        <p:spPr>
          <a:xfrm>
            <a:off x="801859" y="2037560"/>
            <a:ext cx="5167523" cy="832249"/>
          </a:xfrm>
          <a:prstGeom prst="rect">
            <a:avLst/>
          </a:prstGeom>
        </p:spPr>
      </p:pic>
      <p:sp>
        <p:nvSpPr>
          <p:cNvPr id="6" name="TextBox 5">
            <a:extLst>
              <a:ext uri="{FF2B5EF4-FFF2-40B4-BE49-F238E27FC236}">
                <a16:creationId xmlns:a16="http://schemas.microsoft.com/office/drawing/2014/main" id="{C1F73BF7-4651-4440-B670-98EA835DC180}"/>
              </a:ext>
            </a:extLst>
          </p:cNvPr>
          <p:cNvSpPr txBox="1"/>
          <p:nvPr/>
        </p:nvSpPr>
        <p:spPr>
          <a:xfrm>
            <a:off x="492365" y="4206241"/>
            <a:ext cx="8106507" cy="553998"/>
          </a:xfrm>
          <a:prstGeom prst="rect">
            <a:avLst/>
          </a:prstGeom>
          <a:noFill/>
        </p:spPr>
        <p:txBody>
          <a:bodyPr wrap="square">
            <a:spAutoFit/>
          </a:bodyPr>
          <a:lstStyle/>
          <a:p>
            <a:pPr marL="0" indent="0">
              <a:buNone/>
            </a:pPr>
            <a:r>
              <a:rPr lang="en-US" sz="1500" b="1" dirty="0">
                <a:latin typeface="Arial" panose="020B0604020202020204" pitchFamily="34" charset="0"/>
                <a:cs typeface="Arial" panose="020B0604020202020204" pitchFamily="34" charset="0"/>
              </a:rPr>
              <a:t>4. Compare Average Speed of Bottom 5 Agents</a:t>
            </a:r>
          </a:p>
          <a:p>
            <a:pPr marL="0" indent="0">
              <a:buNone/>
            </a:pPr>
            <a:endParaRPr lang="en-US" sz="1500" b="1"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A71BD68C-8F36-4173-904A-6A7F845E8C37}"/>
              </a:ext>
            </a:extLst>
          </p:cNvPr>
          <p:cNvSpPr txBox="1"/>
          <p:nvPr/>
        </p:nvSpPr>
        <p:spPr>
          <a:xfrm>
            <a:off x="386103" y="2660363"/>
            <a:ext cx="11416691"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top 5 delivery agents have an average speed of </a:t>
            </a:r>
            <a:r>
              <a:rPr lang="en-US" sz="1500" b="1" dirty="0">
                <a:latin typeface="Arial" panose="020B0604020202020204" pitchFamily="34" charset="0"/>
                <a:cs typeface="Arial" panose="020B0604020202020204" pitchFamily="34" charset="0"/>
              </a:rPr>
              <a:t>60 km/hr</a:t>
            </a:r>
            <a:r>
              <a:rPr lang="en-US" sz="1500" dirty="0">
                <a:latin typeface="Arial" panose="020B0604020202020204" pitchFamily="34" charset="0"/>
                <a:cs typeface="Arial" panose="020B0604020202020204" pitchFamily="34" charset="0"/>
              </a:rPr>
              <a:t>. This shows they maintain good travel speed and deliver orders on time.</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Study the working methods and route planning of these top-performing agents. Use their best practices to train other delivery agents and improve overall delivery performance.</a:t>
            </a:r>
          </a:p>
        </p:txBody>
      </p:sp>
      <p:pic>
        <p:nvPicPr>
          <p:cNvPr id="12" name="Picture 11">
            <a:extLst>
              <a:ext uri="{FF2B5EF4-FFF2-40B4-BE49-F238E27FC236}">
                <a16:creationId xmlns:a16="http://schemas.microsoft.com/office/drawing/2014/main" id="{CDDA9373-BC53-4F4B-AD8E-B3FC04A3BA87}"/>
              </a:ext>
            </a:extLst>
          </p:cNvPr>
          <p:cNvPicPr>
            <a:picLocks noChangeAspect="1"/>
          </p:cNvPicPr>
          <p:nvPr/>
        </p:nvPicPr>
        <p:blipFill>
          <a:blip r:embed="rId3"/>
          <a:stretch>
            <a:fillRect/>
          </a:stretch>
        </p:blipFill>
        <p:spPr>
          <a:xfrm>
            <a:off x="386103" y="4507021"/>
            <a:ext cx="8462476" cy="2350979"/>
          </a:xfrm>
          <a:prstGeom prst="rect">
            <a:avLst/>
          </a:prstGeom>
        </p:spPr>
      </p:pic>
    </p:spTree>
    <p:extLst>
      <p:ext uri="{BB962C8B-B14F-4D97-AF65-F5344CB8AC3E}">
        <p14:creationId xmlns:p14="http://schemas.microsoft.com/office/powerpoint/2010/main" val="18756015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FD12A-31AB-4129-9CC2-0BA8A1DD843B}"/>
              </a:ext>
            </a:extLst>
          </p:cNvPr>
          <p:cNvSpPr>
            <a:spLocks noGrp="1"/>
          </p:cNvSpPr>
          <p:nvPr>
            <p:ph type="title"/>
          </p:nvPr>
        </p:nvSpPr>
        <p:spPr/>
        <p:txBody>
          <a:bodyPr/>
          <a:lstStyle/>
          <a:p>
            <a:r>
              <a:rPr lang="en-US" dirty="0"/>
              <a:t>TASK 5 TO CONTINUE…..</a:t>
            </a:r>
            <a:endParaRPr lang="en-IN" dirty="0"/>
          </a:p>
        </p:txBody>
      </p:sp>
      <p:pic>
        <p:nvPicPr>
          <p:cNvPr id="5" name="Picture 4">
            <a:extLst>
              <a:ext uri="{FF2B5EF4-FFF2-40B4-BE49-F238E27FC236}">
                <a16:creationId xmlns:a16="http://schemas.microsoft.com/office/drawing/2014/main" id="{8E44356B-ACE6-4A48-B902-EACC9F63764A}"/>
              </a:ext>
            </a:extLst>
          </p:cNvPr>
          <p:cNvPicPr>
            <a:picLocks noChangeAspect="1"/>
          </p:cNvPicPr>
          <p:nvPr/>
        </p:nvPicPr>
        <p:blipFill>
          <a:blip r:embed="rId2"/>
          <a:stretch>
            <a:fillRect/>
          </a:stretch>
        </p:blipFill>
        <p:spPr>
          <a:xfrm>
            <a:off x="998806" y="2152358"/>
            <a:ext cx="5664453" cy="706964"/>
          </a:xfrm>
          <a:prstGeom prst="rect">
            <a:avLst/>
          </a:prstGeom>
        </p:spPr>
      </p:pic>
      <p:sp>
        <p:nvSpPr>
          <p:cNvPr id="7" name="TextBox 6">
            <a:extLst>
              <a:ext uri="{FF2B5EF4-FFF2-40B4-BE49-F238E27FC236}">
                <a16:creationId xmlns:a16="http://schemas.microsoft.com/office/drawing/2014/main" id="{9A20CA18-4E7B-48A2-A870-8EFEDA33F86F}"/>
              </a:ext>
            </a:extLst>
          </p:cNvPr>
          <p:cNvSpPr txBox="1"/>
          <p:nvPr/>
        </p:nvSpPr>
        <p:spPr>
          <a:xfrm>
            <a:off x="259494" y="2859322"/>
            <a:ext cx="11430759"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top 5 delivery agents have an average speed of </a:t>
            </a:r>
            <a:r>
              <a:rPr lang="en-US" sz="1500" b="1" dirty="0">
                <a:latin typeface="Arial" panose="020B0604020202020204" pitchFamily="34" charset="0"/>
                <a:cs typeface="Arial" panose="020B0604020202020204" pitchFamily="34" charset="0"/>
              </a:rPr>
              <a:t>60.00 km/</a:t>
            </a:r>
            <a:r>
              <a:rPr lang="en-US" sz="1500" b="1" dirty="0" err="1">
                <a:latin typeface="Arial" panose="020B0604020202020204" pitchFamily="34" charset="0"/>
                <a:cs typeface="Arial" panose="020B0604020202020204" pitchFamily="34" charset="0"/>
              </a:rPr>
              <a:t>hr</a:t>
            </a:r>
            <a:r>
              <a:rPr lang="en-US" sz="1500" dirty="0">
                <a:latin typeface="Arial" panose="020B0604020202020204" pitchFamily="34" charset="0"/>
                <a:cs typeface="Arial" panose="020B0604020202020204" pitchFamily="34" charset="0"/>
              </a:rPr>
              <a:t>, while the bottom 5 agents have an average speed of </a:t>
            </a:r>
            <a:r>
              <a:rPr lang="en-US" sz="1500" b="1" dirty="0">
                <a:latin typeface="Arial" panose="020B0604020202020204" pitchFamily="34" charset="0"/>
                <a:cs typeface="Arial" panose="020B0604020202020204" pitchFamily="34" charset="0"/>
              </a:rPr>
              <a:t>56.80 km/hr</a:t>
            </a:r>
            <a:r>
              <a:rPr lang="en-US" sz="1500" dirty="0">
                <a:latin typeface="Arial" panose="020B0604020202020204" pitchFamily="34" charset="0"/>
                <a:cs typeface="Arial" panose="020B0604020202020204" pitchFamily="34" charset="0"/>
              </a:rPr>
              <a:t>. This shows that better-performing agents travel slightly faster and are more likely to deliver orders on time.</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Study the route planning and working methods of the top-performing agents. Provide training and better route planning for lower-performing agents to help improve their speed and on-time delivery while ensuring safe driving.</a:t>
            </a:r>
          </a:p>
        </p:txBody>
      </p:sp>
      <p:sp>
        <p:nvSpPr>
          <p:cNvPr id="9" name="TextBox 8">
            <a:extLst>
              <a:ext uri="{FF2B5EF4-FFF2-40B4-BE49-F238E27FC236}">
                <a16:creationId xmlns:a16="http://schemas.microsoft.com/office/drawing/2014/main" id="{034AB7A4-E5D1-42FD-98C8-7842D03DFCB5}"/>
              </a:ext>
            </a:extLst>
          </p:cNvPr>
          <p:cNvSpPr txBox="1"/>
          <p:nvPr/>
        </p:nvSpPr>
        <p:spPr>
          <a:xfrm>
            <a:off x="259493" y="4335591"/>
            <a:ext cx="11430759" cy="2416046"/>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5. Suggest training or workload balancing strategies for low-performing agents based on insights.</a:t>
            </a:r>
            <a:r>
              <a:rPr lang="en-US" sz="1600" dirty="0"/>
              <a:t> </a:t>
            </a:r>
            <a:endParaRPr lang="en-US" sz="1500" b="1" dirty="0">
              <a:latin typeface="Arial" panose="020B0604020202020204" pitchFamily="34" charset="0"/>
              <a:cs typeface="Arial" panose="020B0604020202020204" pitchFamily="34" charset="0"/>
            </a:endParaRPr>
          </a:p>
          <a:p>
            <a:endParaRPr lang="en-US" sz="1500" b="1"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Delivery agents with less than </a:t>
            </a:r>
            <a:r>
              <a:rPr lang="en-US" sz="1500" b="1" dirty="0">
                <a:latin typeface="Arial" panose="020B0604020202020204" pitchFamily="34" charset="0"/>
                <a:cs typeface="Arial" panose="020B0604020202020204" pitchFamily="34" charset="0"/>
              </a:rPr>
              <a:t>80%</a:t>
            </a:r>
            <a:r>
              <a:rPr lang="en-US" sz="1500" dirty="0">
                <a:latin typeface="Arial" panose="020B0604020202020204" pitchFamily="34" charset="0"/>
                <a:cs typeface="Arial" panose="020B0604020202020204" pitchFamily="34" charset="0"/>
              </a:rPr>
              <a:t> on-time delivery performance are performing worse than other agents. The </a:t>
            </a:r>
            <a:r>
              <a:rPr lang="en-US" sz="1500" b="1" dirty="0">
                <a:latin typeface="Arial" panose="020B0604020202020204" pitchFamily="34" charset="0"/>
                <a:cs typeface="Arial" panose="020B0604020202020204" pitchFamily="34" charset="0"/>
              </a:rPr>
              <a:t>Top 5</a:t>
            </a:r>
            <a:r>
              <a:rPr lang="en-US" sz="1500" dirty="0">
                <a:latin typeface="Arial" panose="020B0604020202020204" pitchFamily="34" charset="0"/>
                <a:cs typeface="Arial" panose="020B0604020202020204" pitchFamily="34" charset="0"/>
              </a:rPr>
              <a:t> agents have an average speed of </a:t>
            </a:r>
            <a:r>
              <a:rPr lang="en-US" sz="1500" b="1" dirty="0">
                <a:latin typeface="Arial" panose="020B0604020202020204" pitchFamily="34" charset="0"/>
                <a:cs typeface="Arial" panose="020B0604020202020204" pitchFamily="34" charset="0"/>
              </a:rPr>
              <a:t>60.00 km/</a:t>
            </a:r>
            <a:r>
              <a:rPr lang="en-US" sz="1500" b="1" dirty="0" err="1">
                <a:latin typeface="Arial" panose="020B0604020202020204" pitchFamily="34" charset="0"/>
                <a:cs typeface="Arial" panose="020B0604020202020204" pitchFamily="34" charset="0"/>
              </a:rPr>
              <a:t>hr</a:t>
            </a:r>
            <a:r>
              <a:rPr lang="en-US" sz="1500" dirty="0">
                <a:latin typeface="Arial" panose="020B0604020202020204" pitchFamily="34" charset="0"/>
                <a:cs typeface="Arial" panose="020B0604020202020204" pitchFamily="34" charset="0"/>
              </a:rPr>
              <a:t>, while the </a:t>
            </a:r>
            <a:r>
              <a:rPr lang="en-US" sz="1500" b="1" dirty="0">
                <a:latin typeface="Arial" panose="020B0604020202020204" pitchFamily="34" charset="0"/>
                <a:cs typeface="Arial" panose="020B0604020202020204" pitchFamily="34" charset="0"/>
              </a:rPr>
              <a:t>Bottom 5</a:t>
            </a:r>
            <a:r>
              <a:rPr lang="en-US" sz="1500" dirty="0">
                <a:latin typeface="Arial" panose="020B0604020202020204" pitchFamily="34" charset="0"/>
                <a:cs typeface="Arial" panose="020B0604020202020204" pitchFamily="34" charset="0"/>
              </a:rPr>
              <a:t> agents have an average speed of </a:t>
            </a:r>
            <a:r>
              <a:rPr lang="en-US" sz="1500" b="1" dirty="0">
                <a:latin typeface="Arial" panose="020B0604020202020204" pitchFamily="34" charset="0"/>
                <a:cs typeface="Arial" panose="020B0604020202020204" pitchFamily="34" charset="0"/>
              </a:rPr>
              <a:t>56.80 km/hr</a:t>
            </a:r>
            <a:r>
              <a:rPr lang="en-US" sz="1500" dirty="0">
                <a:latin typeface="Arial" panose="020B0604020202020204" pitchFamily="34" charset="0"/>
                <a:cs typeface="Arial" panose="020B0604020202020204" pitchFamily="34" charset="0"/>
              </a:rPr>
              <a:t>. This shows that better route planning and work practices may help improve delivery performance.</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Provide training on route planning, time management, and efficient delivery methods for low-performing agents. Balance workloads based on each agent's capacity, and encourage top-performing agents to share their best practices. Regular performance reviews and feedback can help improve on-time delivery performance.</a:t>
            </a:r>
          </a:p>
        </p:txBody>
      </p:sp>
    </p:spTree>
    <p:extLst>
      <p:ext uri="{BB962C8B-B14F-4D97-AF65-F5344CB8AC3E}">
        <p14:creationId xmlns:p14="http://schemas.microsoft.com/office/powerpoint/2010/main" val="2256853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70489-8DE2-4AE3-BADF-293DB123369D}"/>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Task 6: Shipment Tracking Analytics</a:t>
            </a:r>
            <a:endParaRPr lang="en-IN"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94B70FB1-44C2-4C94-B1F0-37FFF01DA2BA}"/>
              </a:ext>
            </a:extLst>
          </p:cNvPr>
          <p:cNvPicPr>
            <a:picLocks noGrp="1" noChangeAspect="1"/>
          </p:cNvPicPr>
          <p:nvPr>
            <p:ph idx="1"/>
          </p:nvPr>
        </p:nvPicPr>
        <p:blipFill>
          <a:blip r:embed="rId2"/>
          <a:stretch>
            <a:fillRect/>
          </a:stretch>
        </p:blipFill>
        <p:spPr>
          <a:xfrm>
            <a:off x="386103" y="2738342"/>
            <a:ext cx="4941045" cy="2058742"/>
          </a:xfrm>
        </p:spPr>
      </p:pic>
      <p:sp>
        <p:nvSpPr>
          <p:cNvPr id="7" name="TextBox 6">
            <a:extLst>
              <a:ext uri="{FF2B5EF4-FFF2-40B4-BE49-F238E27FC236}">
                <a16:creationId xmlns:a16="http://schemas.microsoft.com/office/drawing/2014/main" id="{08D41DB5-3F1B-4F32-AD57-996071C9FB5D}"/>
              </a:ext>
            </a:extLst>
          </p:cNvPr>
          <p:cNvSpPr txBox="1"/>
          <p:nvPr/>
        </p:nvSpPr>
        <p:spPr>
          <a:xfrm>
            <a:off x="386103" y="2236763"/>
            <a:ext cx="8761413" cy="55399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1.For each shipment, display the latest status (Delivered, In Transit, or Returned) along with the latest Delivery_Date1</a:t>
            </a:r>
            <a:endParaRPr lang="en-IN" sz="15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58D4F0BB-C725-4ED1-8130-6908F6B41FEA}"/>
              </a:ext>
            </a:extLst>
          </p:cNvPr>
          <p:cNvPicPr>
            <a:picLocks noChangeAspect="1"/>
          </p:cNvPicPr>
          <p:nvPr/>
        </p:nvPicPr>
        <p:blipFill>
          <a:blip r:embed="rId3"/>
          <a:stretch>
            <a:fillRect/>
          </a:stretch>
        </p:blipFill>
        <p:spPr>
          <a:xfrm>
            <a:off x="6095999" y="2702837"/>
            <a:ext cx="3820367" cy="2229161"/>
          </a:xfrm>
          <a:prstGeom prst="rect">
            <a:avLst/>
          </a:prstGeom>
        </p:spPr>
      </p:pic>
      <p:sp>
        <p:nvSpPr>
          <p:cNvPr id="11" name="TextBox 10">
            <a:extLst>
              <a:ext uri="{FF2B5EF4-FFF2-40B4-BE49-F238E27FC236}">
                <a16:creationId xmlns:a16="http://schemas.microsoft.com/office/drawing/2014/main" id="{EA148AC3-4465-4744-AAFE-2BACB921D449}"/>
              </a:ext>
            </a:extLst>
          </p:cNvPr>
          <p:cNvSpPr txBox="1"/>
          <p:nvPr/>
        </p:nvSpPr>
        <p:spPr>
          <a:xfrm>
            <a:off x="573258" y="4997774"/>
            <a:ext cx="9555480"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latest checkpoint shows the current status of each shipment. It helps track where the shipment is and identify orders that may be delayed at a checkpoint.</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Regularly monitor shipments that stay at the same checkpoint for a long time. Check the reason for the delay and improve coordination between logistics hubs to move shipments faster.</a:t>
            </a:r>
          </a:p>
        </p:txBody>
      </p:sp>
    </p:spTree>
    <p:extLst>
      <p:ext uri="{BB962C8B-B14F-4D97-AF65-F5344CB8AC3E}">
        <p14:creationId xmlns:p14="http://schemas.microsoft.com/office/powerpoint/2010/main" val="2485427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7B8EF-08A1-4642-AD6B-E2B45DDC39BC}"/>
              </a:ext>
            </a:extLst>
          </p:cNvPr>
          <p:cNvSpPr>
            <a:spLocks noGrp="1"/>
          </p:cNvSpPr>
          <p:nvPr>
            <p:ph type="title"/>
          </p:nvPr>
        </p:nvSpPr>
        <p:spPr/>
        <p:txBody>
          <a:bodyPr/>
          <a:lstStyle/>
          <a:p>
            <a:r>
              <a:rPr lang="en-US" dirty="0"/>
              <a:t>TASK 6 TO CONTINUE…..</a:t>
            </a:r>
            <a:endParaRPr lang="en-IN" dirty="0"/>
          </a:p>
        </p:txBody>
      </p:sp>
      <p:sp>
        <p:nvSpPr>
          <p:cNvPr id="3" name="Content Placeholder 2">
            <a:extLst>
              <a:ext uri="{FF2B5EF4-FFF2-40B4-BE49-F238E27FC236}">
                <a16:creationId xmlns:a16="http://schemas.microsoft.com/office/drawing/2014/main" id="{81BE11B8-CF70-4C2D-9071-4CBA72D8BCDD}"/>
              </a:ext>
            </a:extLst>
          </p:cNvPr>
          <p:cNvSpPr>
            <a:spLocks noGrp="1"/>
          </p:cNvSpPr>
          <p:nvPr>
            <p:ph idx="1"/>
          </p:nvPr>
        </p:nvSpPr>
        <p:spPr>
          <a:xfrm>
            <a:off x="0" y="2011680"/>
            <a:ext cx="11788726" cy="4846320"/>
          </a:xfrm>
        </p:spPr>
        <p:txBody>
          <a:bodyPr>
            <a:normAutofit fontScale="92500" lnSpcReduction="10000"/>
          </a:bodyPr>
          <a:lstStyle/>
          <a:p>
            <a:pPr marL="0" indent="0">
              <a:buNone/>
            </a:pPr>
            <a:endParaRPr lang="en-US" sz="1500" b="1" dirty="0">
              <a:latin typeface="Arial" panose="020B0604020202020204" pitchFamily="34" charset="0"/>
              <a:cs typeface="Arial" panose="020B0604020202020204" pitchFamily="34" charset="0"/>
            </a:endParaRPr>
          </a:p>
          <a:p>
            <a:pPr marL="0" indent="0">
              <a:buNone/>
            </a:pPr>
            <a:r>
              <a:rPr lang="en-US" sz="1500" b="1" dirty="0">
                <a:latin typeface="Arial" panose="020B0604020202020204" pitchFamily="34" charset="0"/>
                <a:cs typeface="Arial" panose="020B0604020202020204" pitchFamily="34" charset="0"/>
              </a:rPr>
              <a:t>     2.Identify routes where the majority of shipments are still “In Transit” or “Returned”. </a:t>
            </a:r>
            <a:endParaRPr lang="en-IN"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Business Insight:</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Some orders have delays at more than two checkpoints during delivery. </a:t>
            </a:r>
            <a:r>
              <a:rPr lang="en-US" sz="1600" b="1" dirty="0">
                <a:latin typeface="Arial" panose="020B0604020202020204" pitchFamily="34" charset="0"/>
                <a:cs typeface="Arial" panose="020B0604020202020204" pitchFamily="34" charset="0"/>
              </a:rPr>
              <a:t>Order O0016</a:t>
            </a:r>
            <a:r>
              <a:rPr lang="en-US" sz="1600" dirty="0">
                <a:latin typeface="Arial" panose="020B0604020202020204" pitchFamily="34" charset="0"/>
                <a:cs typeface="Arial" panose="020B0604020202020204" pitchFamily="34" charset="0"/>
              </a:rPr>
              <a:t> has the highest number of delayed checkpoints (</a:t>
            </a:r>
            <a:r>
              <a:rPr lang="en-US" sz="1600" b="1" dirty="0">
                <a:latin typeface="Arial" panose="020B0604020202020204" pitchFamily="34" charset="0"/>
                <a:cs typeface="Arial" panose="020B0604020202020204" pitchFamily="34" charset="0"/>
              </a:rPr>
              <a:t>5</a:t>
            </a:r>
            <a:r>
              <a:rPr lang="en-US" sz="1600" dirty="0">
                <a:latin typeface="Arial" panose="020B0604020202020204" pitchFamily="34" charset="0"/>
                <a:cs typeface="Arial" panose="020B0604020202020204" pitchFamily="34" charset="0"/>
              </a:rPr>
              <a:t>), while </a:t>
            </a:r>
            <a:r>
              <a:rPr lang="en-US" sz="1600" b="1" dirty="0">
                <a:latin typeface="Arial" panose="020B0604020202020204" pitchFamily="34" charset="0"/>
                <a:cs typeface="Arial" panose="020B0604020202020204" pitchFamily="34" charset="0"/>
              </a:rPr>
              <a:t>O0003, O0004, O0005, and O0015</a:t>
            </a:r>
            <a:r>
              <a:rPr lang="en-US" sz="1600" dirty="0">
                <a:latin typeface="Arial" panose="020B0604020202020204" pitchFamily="34" charset="0"/>
                <a:cs typeface="Arial" panose="020B0604020202020204" pitchFamily="34" charset="0"/>
              </a:rPr>
              <a:t> each have </a:t>
            </a:r>
            <a:r>
              <a:rPr lang="en-US" sz="1600" b="1" dirty="0">
                <a:latin typeface="Arial" panose="020B0604020202020204" pitchFamily="34" charset="0"/>
                <a:cs typeface="Arial" panose="020B0604020202020204" pitchFamily="34" charset="0"/>
              </a:rPr>
              <a:t>4</a:t>
            </a:r>
            <a:r>
              <a:rPr lang="en-US" sz="1600" dirty="0">
                <a:latin typeface="Arial" panose="020B0604020202020204" pitchFamily="34" charset="0"/>
                <a:cs typeface="Arial" panose="020B0604020202020204" pitchFamily="34" charset="0"/>
              </a:rPr>
              <a:t> delayed checkpoints. These orders are more likely to be delivered late.</a:t>
            </a:r>
          </a:p>
          <a:p>
            <a:r>
              <a:rPr lang="en-US" sz="1600" b="1" dirty="0">
                <a:latin typeface="Arial" panose="020B0604020202020204" pitchFamily="34" charset="0"/>
                <a:cs typeface="Arial" panose="020B0604020202020204" pitchFamily="34" charset="0"/>
              </a:rPr>
              <a:t>Recommendation:</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Regularly monitor orders with multiple delayed checkpoints. Find the reasons for the repeated delays and improve coordination between logistics hubs to reduce delays and ensure on-time delivery.</a:t>
            </a: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a:p>
            <a:pPr marL="0" indent="0">
              <a:buNone/>
            </a:pPr>
            <a:endParaRPr lang="en-US" sz="15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65ACFF8-042F-470C-A660-E961921AF8AE}"/>
              </a:ext>
            </a:extLst>
          </p:cNvPr>
          <p:cNvPicPr>
            <a:picLocks noChangeAspect="1"/>
          </p:cNvPicPr>
          <p:nvPr/>
        </p:nvPicPr>
        <p:blipFill>
          <a:blip r:embed="rId2"/>
          <a:stretch>
            <a:fillRect/>
          </a:stretch>
        </p:blipFill>
        <p:spPr>
          <a:xfrm>
            <a:off x="497059" y="2621480"/>
            <a:ext cx="4133454" cy="2168607"/>
          </a:xfrm>
          <a:prstGeom prst="rect">
            <a:avLst/>
          </a:prstGeom>
        </p:spPr>
      </p:pic>
      <p:pic>
        <p:nvPicPr>
          <p:cNvPr id="7" name="Picture 6">
            <a:extLst>
              <a:ext uri="{FF2B5EF4-FFF2-40B4-BE49-F238E27FC236}">
                <a16:creationId xmlns:a16="http://schemas.microsoft.com/office/drawing/2014/main" id="{EE405C7C-DCE5-48E3-90A5-8D8AACFAEAF6}"/>
              </a:ext>
            </a:extLst>
          </p:cNvPr>
          <p:cNvPicPr>
            <a:picLocks noChangeAspect="1"/>
          </p:cNvPicPr>
          <p:nvPr/>
        </p:nvPicPr>
        <p:blipFill>
          <a:blip r:embed="rId3"/>
          <a:stretch>
            <a:fillRect/>
          </a:stretch>
        </p:blipFill>
        <p:spPr>
          <a:xfrm>
            <a:off x="6230904" y="2621480"/>
            <a:ext cx="5464037" cy="2168607"/>
          </a:xfrm>
          <a:prstGeom prst="rect">
            <a:avLst/>
          </a:prstGeom>
        </p:spPr>
      </p:pic>
    </p:spTree>
    <p:extLst>
      <p:ext uri="{BB962C8B-B14F-4D97-AF65-F5344CB8AC3E}">
        <p14:creationId xmlns:p14="http://schemas.microsoft.com/office/powerpoint/2010/main" val="33235681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8C262-4D0E-4AFE-89ED-F19BDC0266C7}"/>
              </a:ext>
            </a:extLst>
          </p:cNvPr>
          <p:cNvSpPr>
            <a:spLocks noGrp="1"/>
          </p:cNvSpPr>
          <p:nvPr>
            <p:ph type="title"/>
          </p:nvPr>
        </p:nvSpPr>
        <p:spPr/>
        <p:txBody>
          <a:bodyPr/>
          <a:lstStyle/>
          <a:p>
            <a:r>
              <a:rPr lang="en-US" dirty="0"/>
              <a:t>TASK 6 TO CONTINUE…..</a:t>
            </a:r>
            <a:endParaRPr lang="en-IN" dirty="0"/>
          </a:p>
        </p:txBody>
      </p:sp>
      <p:sp>
        <p:nvSpPr>
          <p:cNvPr id="3" name="Content Placeholder 2">
            <a:extLst>
              <a:ext uri="{FF2B5EF4-FFF2-40B4-BE49-F238E27FC236}">
                <a16:creationId xmlns:a16="http://schemas.microsoft.com/office/drawing/2014/main" id="{D1098BB8-E73A-466A-A2F5-76B18ADAD917}"/>
              </a:ext>
            </a:extLst>
          </p:cNvPr>
          <p:cNvSpPr>
            <a:spLocks noGrp="1"/>
          </p:cNvSpPr>
          <p:nvPr>
            <p:ph idx="1"/>
          </p:nvPr>
        </p:nvSpPr>
        <p:spPr>
          <a:xfrm>
            <a:off x="1154954" y="2603500"/>
            <a:ext cx="8825659" cy="4254500"/>
          </a:xfrm>
        </p:spPr>
        <p:txBody>
          <a:bodyPr/>
          <a:lstStyle/>
          <a:p>
            <a:r>
              <a:rPr lang="en-US" sz="1800" b="1" dirty="0">
                <a:latin typeface="Arial" panose="020B0604020202020204" pitchFamily="34" charset="0"/>
                <a:cs typeface="Arial" panose="020B0604020202020204" pitchFamily="34" charset="0"/>
              </a:rPr>
              <a:t>3.Find the most frequent delay reasons (if available in delay-related columns or flags )</a:t>
            </a:r>
          </a:p>
          <a:p>
            <a:endParaRPr lang="en-IN" dirty="0"/>
          </a:p>
        </p:txBody>
      </p:sp>
      <p:sp>
        <p:nvSpPr>
          <p:cNvPr id="5" name="TextBox 4">
            <a:extLst>
              <a:ext uri="{FF2B5EF4-FFF2-40B4-BE49-F238E27FC236}">
                <a16:creationId xmlns:a16="http://schemas.microsoft.com/office/drawing/2014/main" id="{070596ED-BAFD-4B61-90D6-A035A0B32654}"/>
              </a:ext>
            </a:extLst>
          </p:cNvPr>
          <p:cNvSpPr txBox="1"/>
          <p:nvPr/>
        </p:nvSpPr>
        <p:spPr>
          <a:xfrm>
            <a:off x="379828" y="5042154"/>
            <a:ext cx="11408898"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Sorting Delay</a:t>
            </a:r>
            <a:r>
              <a:rPr lang="en-US" sz="1500" dirty="0">
                <a:latin typeface="Arial" panose="020B0604020202020204" pitchFamily="34" charset="0"/>
                <a:cs typeface="Arial" panose="020B0604020202020204" pitchFamily="34" charset="0"/>
              </a:rPr>
              <a:t> is the most common reason for shipment delays (</a:t>
            </a:r>
            <a:r>
              <a:rPr lang="en-US" sz="1500" b="1" dirty="0">
                <a:latin typeface="Arial" panose="020B0604020202020204" pitchFamily="34" charset="0"/>
                <a:cs typeface="Arial" panose="020B0604020202020204" pitchFamily="34" charset="0"/>
              </a:rPr>
              <a:t>272 times</a:t>
            </a:r>
            <a:r>
              <a:rPr lang="en-US" sz="1500" dirty="0">
                <a:latin typeface="Arial" panose="020B0604020202020204" pitchFamily="34" charset="0"/>
                <a:cs typeface="Arial" panose="020B0604020202020204" pitchFamily="34" charset="0"/>
              </a:rPr>
              <a:t>). It is followed by </a:t>
            </a:r>
            <a:r>
              <a:rPr lang="en-US" sz="1500" b="1" dirty="0">
                <a:latin typeface="Arial" panose="020B0604020202020204" pitchFamily="34" charset="0"/>
                <a:cs typeface="Arial" panose="020B0604020202020204" pitchFamily="34" charset="0"/>
              </a:rPr>
              <a:t>Weather (263)</a:t>
            </a:r>
            <a:r>
              <a:rPr lang="en-US" sz="1500" dirty="0">
                <a:latin typeface="Arial" panose="020B0604020202020204" pitchFamily="34" charset="0"/>
                <a:cs typeface="Arial" panose="020B0604020202020204" pitchFamily="34" charset="0"/>
              </a:rPr>
              <a:t> and </a:t>
            </a:r>
            <a:r>
              <a:rPr lang="en-US" sz="1500" b="1" dirty="0">
                <a:latin typeface="Arial" panose="020B0604020202020204" pitchFamily="34" charset="0"/>
                <a:cs typeface="Arial" panose="020B0604020202020204" pitchFamily="34" charset="0"/>
              </a:rPr>
              <a:t>Traffic (247)</a:t>
            </a:r>
            <a:r>
              <a:rPr lang="en-US" sz="1500" dirty="0">
                <a:latin typeface="Arial" panose="020B0604020202020204" pitchFamily="34" charset="0"/>
                <a:cs typeface="Arial" panose="020B0604020202020204" pitchFamily="34" charset="0"/>
              </a:rPr>
              <a:t>. This shows that warehouse sorting causes more delays than external factors.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Improve the warehouse sorting process by using automation, better staff planning, and barcode scanning. Also, monitor weather and traffic conditions to help reduce delays caused by external factors.</a:t>
            </a:r>
          </a:p>
        </p:txBody>
      </p:sp>
      <p:pic>
        <p:nvPicPr>
          <p:cNvPr id="7" name="Picture 6">
            <a:extLst>
              <a:ext uri="{FF2B5EF4-FFF2-40B4-BE49-F238E27FC236}">
                <a16:creationId xmlns:a16="http://schemas.microsoft.com/office/drawing/2014/main" id="{D5A7C575-F689-40B0-9515-FB4A02D4AC27}"/>
              </a:ext>
            </a:extLst>
          </p:cNvPr>
          <p:cNvPicPr>
            <a:picLocks noChangeAspect="1"/>
          </p:cNvPicPr>
          <p:nvPr/>
        </p:nvPicPr>
        <p:blipFill>
          <a:blip r:embed="rId2"/>
          <a:stretch>
            <a:fillRect/>
          </a:stretch>
        </p:blipFill>
        <p:spPr>
          <a:xfrm>
            <a:off x="700847" y="3277773"/>
            <a:ext cx="5775988" cy="1764381"/>
          </a:xfrm>
          <a:prstGeom prst="rect">
            <a:avLst/>
          </a:prstGeom>
        </p:spPr>
      </p:pic>
      <p:pic>
        <p:nvPicPr>
          <p:cNvPr id="9" name="Picture 8">
            <a:extLst>
              <a:ext uri="{FF2B5EF4-FFF2-40B4-BE49-F238E27FC236}">
                <a16:creationId xmlns:a16="http://schemas.microsoft.com/office/drawing/2014/main" id="{AB95AD8F-9D01-4048-A12E-00D747563FAB}"/>
              </a:ext>
            </a:extLst>
          </p:cNvPr>
          <p:cNvPicPr>
            <a:picLocks noChangeAspect="1"/>
          </p:cNvPicPr>
          <p:nvPr/>
        </p:nvPicPr>
        <p:blipFill>
          <a:blip r:embed="rId3"/>
          <a:stretch>
            <a:fillRect/>
          </a:stretch>
        </p:blipFill>
        <p:spPr>
          <a:xfrm>
            <a:off x="6911135" y="3277772"/>
            <a:ext cx="3844604" cy="1924899"/>
          </a:xfrm>
          <a:prstGeom prst="rect">
            <a:avLst/>
          </a:prstGeom>
        </p:spPr>
      </p:pic>
    </p:spTree>
    <p:extLst>
      <p:ext uri="{BB962C8B-B14F-4D97-AF65-F5344CB8AC3E}">
        <p14:creationId xmlns:p14="http://schemas.microsoft.com/office/powerpoint/2010/main" val="2752179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E82FC-4897-438B-8C96-2AF8B8E124F3}"/>
              </a:ext>
            </a:extLst>
          </p:cNvPr>
          <p:cNvSpPr>
            <a:spLocks noGrp="1"/>
          </p:cNvSpPr>
          <p:nvPr>
            <p:ph type="title"/>
          </p:nvPr>
        </p:nvSpPr>
        <p:spPr/>
        <p:txBody>
          <a:bodyPr/>
          <a:lstStyle/>
          <a:p>
            <a:r>
              <a:rPr lang="en-US" dirty="0"/>
              <a:t>TASK 6 TO CONTINUE…..</a:t>
            </a:r>
            <a:endParaRPr lang="en-IN" b="1" dirty="0"/>
          </a:p>
        </p:txBody>
      </p:sp>
      <p:graphicFrame>
        <p:nvGraphicFramePr>
          <p:cNvPr id="6" name="Content Placeholder 5">
            <a:extLst>
              <a:ext uri="{FF2B5EF4-FFF2-40B4-BE49-F238E27FC236}">
                <a16:creationId xmlns:a16="http://schemas.microsoft.com/office/drawing/2014/main" id="{04A4607A-EF02-43CC-AC8F-BC43BBA98177}"/>
              </a:ext>
            </a:extLst>
          </p:cNvPr>
          <p:cNvGraphicFramePr>
            <a:graphicFrameLocks noGrp="1"/>
          </p:cNvGraphicFramePr>
          <p:nvPr>
            <p:ph idx="1"/>
            <p:extLst>
              <p:ext uri="{D42A27DB-BD31-4B8C-83A1-F6EECF244321}">
                <p14:modId xmlns:p14="http://schemas.microsoft.com/office/powerpoint/2010/main" val="2091428188"/>
              </p:ext>
            </p:extLst>
          </p:nvPr>
        </p:nvGraphicFramePr>
        <p:xfrm>
          <a:off x="1155700" y="2603500"/>
          <a:ext cx="8824913" cy="34163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73871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BE7D1-F814-41F1-A298-74CCD58D03AC}"/>
              </a:ext>
            </a:extLst>
          </p:cNvPr>
          <p:cNvSpPr>
            <a:spLocks noGrp="1"/>
          </p:cNvSpPr>
          <p:nvPr>
            <p:ph type="title"/>
          </p:nvPr>
        </p:nvSpPr>
        <p:spPr/>
        <p:txBody>
          <a:bodyPr/>
          <a:lstStyle/>
          <a:p>
            <a:r>
              <a:rPr lang="en-US" dirty="0"/>
              <a:t>TASK 6 TO CONTINUE…..</a:t>
            </a:r>
            <a:endParaRPr lang="en-IN" dirty="0"/>
          </a:p>
        </p:txBody>
      </p:sp>
      <p:sp>
        <p:nvSpPr>
          <p:cNvPr id="10" name="TextBox 9">
            <a:extLst>
              <a:ext uri="{FF2B5EF4-FFF2-40B4-BE49-F238E27FC236}">
                <a16:creationId xmlns:a16="http://schemas.microsoft.com/office/drawing/2014/main" id="{3B6B4B48-E055-408D-846D-D6717A37F060}"/>
              </a:ext>
            </a:extLst>
          </p:cNvPr>
          <p:cNvSpPr txBox="1"/>
          <p:nvPr/>
        </p:nvSpPr>
        <p:spPr>
          <a:xfrm>
            <a:off x="689318" y="2236763"/>
            <a:ext cx="10044332" cy="2862322"/>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Business Insight</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Sorting Delay is the most frequent delay reason (</a:t>
            </a:r>
            <a:r>
              <a:rPr lang="en-US" b="1" dirty="0">
                <a:latin typeface="Arial" panose="020B0604020202020204" pitchFamily="34" charset="0"/>
                <a:cs typeface="Arial" panose="020B0604020202020204" pitchFamily="34" charset="0"/>
              </a:rPr>
              <a:t>272 cases</a:t>
            </a:r>
            <a:r>
              <a:rPr lang="en-US" dirty="0">
                <a:latin typeface="Arial" panose="020B0604020202020204" pitchFamily="34" charset="0"/>
                <a:cs typeface="Arial" panose="020B0604020202020204" pitchFamily="34" charset="0"/>
              </a:rPr>
              <a:t>). </a:t>
            </a:r>
          </a:p>
          <a:p>
            <a:pPr>
              <a:buFont typeface="Arial" panose="020B0604020202020204" pitchFamily="34" charset="0"/>
              <a:buChar char="•"/>
            </a:pPr>
            <a:r>
              <a:rPr lang="en-US" dirty="0">
                <a:latin typeface="Arial" panose="020B0604020202020204" pitchFamily="34" charset="0"/>
                <a:cs typeface="Arial" panose="020B0604020202020204" pitchFamily="34" charset="0"/>
              </a:rPr>
              <a:t>Weather caused </a:t>
            </a:r>
            <a:r>
              <a:rPr lang="en-US" b="1" dirty="0">
                <a:latin typeface="Arial" panose="020B0604020202020204" pitchFamily="34" charset="0"/>
                <a:cs typeface="Arial" panose="020B0604020202020204" pitchFamily="34" charset="0"/>
              </a:rPr>
              <a:t>263</a:t>
            </a:r>
            <a:r>
              <a:rPr lang="en-US" dirty="0">
                <a:latin typeface="Arial" panose="020B0604020202020204" pitchFamily="34" charset="0"/>
                <a:cs typeface="Arial" panose="020B0604020202020204" pitchFamily="34" charset="0"/>
              </a:rPr>
              <a:t> delays. </a:t>
            </a:r>
          </a:p>
          <a:p>
            <a:pPr>
              <a:buFont typeface="Arial" panose="020B0604020202020204" pitchFamily="34" charset="0"/>
              <a:buChar char="•"/>
            </a:pPr>
            <a:r>
              <a:rPr lang="en-US" dirty="0">
                <a:latin typeface="Arial" panose="020B0604020202020204" pitchFamily="34" charset="0"/>
                <a:cs typeface="Arial" panose="020B0604020202020204" pitchFamily="34" charset="0"/>
              </a:rPr>
              <a:t>Traffic caused </a:t>
            </a:r>
            <a:r>
              <a:rPr lang="en-US" b="1" dirty="0">
                <a:latin typeface="Arial" panose="020B0604020202020204" pitchFamily="34" charset="0"/>
                <a:cs typeface="Arial" panose="020B0604020202020204" pitchFamily="34" charset="0"/>
              </a:rPr>
              <a:t>247</a:t>
            </a:r>
            <a:r>
              <a:rPr lang="en-US" dirty="0">
                <a:latin typeface="Arial" panose="020B0604020202020204" pitchFamily="34" charset="0"/>
                <a:cs typeface="Arial" panose="020B0604020202020204" pitchFamily="34" charset="0"/>
              </a:rPr>
              <a:t> delays. </a:t>
            </a:r>
          </a:p>
          <a:p>
            <a:pPr>
              <a:buFont typeface="Arial" panose="020B0604020202020204" pitchFamily="34" charset="0"/>
              <a:buChar char="•"/>
            </a:pPr>
            <a:r>
              <a:rPr lang="en-US" dirty="0">
                <a:latin typeface="Arial" panose="020B0604020202020204" pitchFamily="34" charset="0"/>
                <a:cs typeface="Arial" panose="020B0604020202020204" pitchFamily="34" charset="0"/>
              </a:rPr>
              <a:t>Internal sorting issues contribute slightly more delays than external factors. </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Recommendation</a:t>
            </a:r>
            <a:endParaRPr lang="en-US"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Improve warehouse sorting using automation and barcode scanning. </a:t>
            </a:r>
          </a:p>
          <a:p>
            <a:pPr>
              <a:buFont typeface="Arial" panose="020B0604020202020204" pitchFamily="34" charset="0"/>
              <a:buChar char="•"/>
            </a:pPr>
            <a:r>
              <a:rPr lang="en-US" dirty="0">
                <a:latin typeface="Arial" panose="020B0604020202020204" pitchFamily="34" charset="0"/>
                <a:cs typeface="Arial" panose="020B0604020202020204" pitchFamily="34" charset="0"/>
              </a:rPr>
              <a:t>Monitor weather and traffic conditions to reduce external delays. </a:t>
            </a:r>
          </a:p>
          <a:p>
            <a:pPr>
              <a:buFont typeface="Arial" panose="020B0604020202020204" pitchFamily="34" charset="0"/>
              <a:buChar char="•"/>
            </a:pPr>
            <a:r>
              <a:rPr lang="en-US" dirty="0">
                <a:latin typeface="Arial" panose="020B0604020202020204" pitchFamily="34" charset="0"/>
                <a:cs typeface="Arial" panose="020B0604020202020204" pitchFamily="34" charset="0"/>
              </a:rPr>
              <a:t>Use real-time alerts for shipments affected by operational bottlenecks.</a:t>
            </a:r>
          </a:p>
        </p:txBody>
      </p:sp>
    </p:spTree>
    <p:extLst>
      <p:ext uri="{BB962C8B-B14F-4D97-AF65-F5344CB8AC3E}">
        <p14:creationId xmlns:p14="http://schemas.microsoft.com/office/powerpoint/2010/main" val="3255137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2D26A-547F-4AF1-B97F-45319EC886E9}"/>
              </a:ext>
            </a:extLst>
          </p:cNvPr>
          <p:cNvSpPr>
            <a:spLocks noGrp="1"/>
          </p:cNvSpPr>
          <p:nvPr>
            <p:ph type="title"/>
          </p:nvPr>
        </p:nvSpPr>
        <p:spPr/>
        <p:txBody>
          <a:bodyPr/>
          <a:lstStyle/>
          <a:p>
            <a:r>
              <a:rPr lang="en-US" dirty="0"/>
              <a:t>TASK 6 TO CONTINUE…..</a:t>
            </a:r>
            <a:endParaRPr lang="en-IN" dirty="0"/>
          </a:p>
        </p:txBody>
      </p:sp>
      <p:pic>
        <p:nvPicPr>
          <p:cNvPr id="5" name="Content Placeholder 4">
            <a:extLst>
              <a:ext uri="{FF2B5EF4-FFF2-40B4-BE49-F238E27FC236}">
                <a16:creationId xmlns:a16="http://schemas.microsoft.com/office/drawing/2014/main" id="{518EF877-E519-48CB-9A04-5942D9A0C870}"/>
              </a:ext>
            </a:extLst>
          </p:cNvPr>
          <p:cNvPicPr>
            <a:picLocks noGrp="1" noChangeAspect="1"/>
          </p:cNvPicPr>
          <p:nvPr>
            <p:ph idx="1"/>
          </p:nvPr>
        </p:nvPicPr>
        <p:blipFill>
          <a:blip r:embed="rId2"/>
          <a:stretch>
            <a:fillRect/>
          </a:stretch>
        </p:blipFill>
        <p:spPr>
          <a:xfrm>
            <a:off x="561779" y="2198380"/>
            <a:ext cx="9158996" cy="1804288"/>
          </a:xfrm>
        </p:spPr>
      </p:pic>
      <p:pic>
        <p:nvPicPr>
          <p:cNvPr id="7" name="Picture 6">
            <a:extLst>
              <a:ext uri="{FF2B5EF4-FFF2-40B4-BE49-F238E27FC236}">
                <a16:creationId xmlns:a16="http://schemas.microsoft.com/office/drawing/2014/main" id="{97A4BB83-5842-49C7-BCAD-44680B6D335E}"/>
              </a:ext>
            </a:extLst>
          </p:cNvPr>
          <p:cNvPicPr>
            <a:picLocks noChangeAspect="1"/>
          </p:cNvPicPr>
          <p:nvPr/>
        </p:nvPicPr>
        <p:blipFill>
          <a:blip r:embed="rId3"/>
          <a:stretch>
            <a:fillRect/>
          </a:stretch>
        </p:blipFill>
        <p:spPr>
          <a:xfrm>
            <a:off x="614291" y="4368432"/>
            <a:ext cx="6099066" cy="607016"/>
          </a:xfrm>
          <a:prstGeom prst="rect">
            <a:avLst/>
          </a:prstGeom>
        </p:spPr>
      </p:pic>
      <p:sp>
        <p:nvSpPr>
          <p:cNvPr id="9" name="TextBox 8">
            <a:extLst>
              <a:ext uri="{FF2B5EF4-FFF2-40B4-BE49-F238E27FC236}">
                <a16:creationId xmlns:a16="http://schemas.microsoft.com/office/drawing/2014/main" id="{106C066D-3DD2-44CA-A2FF-A8B6A4CA8AB1}"/>
              </a:ext>
            </a:extLst>
          </p:cNvPr>
          <p:cNvSpPr txBox="1"/>
          <p:nvPr/>
        </p:nvSpPr>
        <p:spPr>
          <a:xfrm>
            <a:off x="329868" y="4975448"/>
            <a:ext cx="11247841" cy="1477328"/>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No orders had a delivery delay of more than </a:t>
            </a:r>
            <a:r>
              <a:rPr lang="en-US" sz="1500" b="1" dirty="0">
                <a:latin typeface="Arial" panose="020B0604020202020204" pitchFamily="34" charset="0"/>
                <a:cs typeface="Arial" panose="020B0604020202020204" pitchFamily="34" charset="0"/>
              </a:rPr>
              <a:t>120 hours (5 days)</a:t>
            </a:r>
            <a:r>
              <a:rPr lang="en-US" sz="1500" dirty="0">
                <a:latin typeface="Arial" panose="020B0604020202020204" pitchFamily="34" charset="0"/>
                <a:cs typeface="Arial" panose="020B0604020202020204" pitchFamily="34" charset="0"/>
              </a:rPr>
              <a:t>. This shows that the delivery process is working well and is preventing very long delays.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Continue monitoring delivery performance and use automatic delay alerts to identify delayed shipments early. This can help prevent future orders from exceeding the </a:t>
            </a:r>
            <a:r>
              <a:rPr lang="en-US" sz="1500" b="1" dirty="0">
                <a:latin typeface="Arial" panose="020B0604020202020204" pitchFamily="34" charset="0"/>
                <a:cs typeface="Arial" panose="020B0604020202020204" pitchFamily="34" charset="0"/>
              </a:rPr>
              <a:t>120-hour</a:t>
            </a:r>
            <a:r>
              <a:rPr lang="en-US" sz="1500" dirty="0">
                <a:latin typeface="Arial" panose="020B0604020202020204" pitchFamily="34" charset="0"/>
                <a:cs typeface="Arial" panose="020B0604020202020204" pitchFamily="34" charset="0"/>
              </a:rPr>
              <a:t> limit.</a:t>
            </a:r>
          </a:p>
        </p:txBody>
      </p:sp>
    </p:spTree>
    <p:extLst>
      <p:ext uri="{BB962C8B-B14F-4D97-AF65-F5344CB8AC3E}">
        <p14:creationId xmlns:p14="http://schemas.microsoft.com/office/powerpoint/2010/main" val="825158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B8F6F-C5A6-43C3-8CDE-E45218BDD0A9}"/>
              </a:ext>
            </a:extLst>
          </p:cNvPr>
          <p:cNvSpPr>
            <a:spLocks noGrp="1"/>
          </p:cNvSpPr>
          <p:nvPr>
            <p:ph type="title"/>
          </p:nvPr>
        </p:nvSpPr>
        <p:spPr/>
        <p:txBody>
          <a:bodyPr/>
          <a:lstStyle/>
          <a:p>
            <a:r>
              <a:rPr lang="en-US" dirty="0"/>
              <a:t>Task 7: Advanced KPI Reporting</a:t>
            </a:r>
            <a:endParaRPr lang="en-IN" dirty="0"/>
          </a:p>
        </p:txBody>
      </p:sp>
      <p:sp>
        <p:nvSpPr>
          <p:cNvPr id="3" name="Content Placeholder 2">
            <a:extLst>
              <a:ext uri="{FF2B5EF4-FFF2-40B4-BE49-F238E27FC236}">
                <a16:creationId xmlns:a16="http://schemas.microsoft.com/office/drawing/2014/main" id="{4022A142-9B57-4709-ADC6-9AAD1148AD66}"/>
              </a:ext>
            </a:extLst>
          </p:cNvPr>
          <p:cNvSpPr>
            <a:spLocks noGrp="1"/>
          </p:cNvSpPr>
          <p:nvPr>
            <p:ph idx="1"/>
          </p:nvPr>
        </p:nvSpPr>
        <p:spPr>
          <a:xfrm>
            <a:off x="239151" y="2363373"/>
            <a:ext cx="11521440" cy="4192173"/>
          </a:xfrm>
        </p:spPr>
        <p:txBody>
          <a:bodyPr>
            <a:normAutofit/>
          </a:bodyPr>
          <a:lstStyle/>
          <a:p>
            <a:r>
              <a:rPr lang="en-US" sz="1500" b="1" dirty="0">
                <a:latin typeface="Arial" panose="020B0604020202020204" pitchFamily="34" charset="0"/>
                <a:cs typeface="Arial" panose="020B0604020202020204" pitchFamily="34" charset="0"/>
              </a:rPr>
              <a:t>1.Average Delivery Delay per </a:t>
            </a:r>
            <a:r>
              <a:rPr lang="en-US" sz="1500" b="1" dirty="0" err="1">
                <a:latin typeface="Arial" panose="020B0604020202020204" pitchFamily="34" charset="0"/>
                <a:cs typeface="Arial" panose="020B0604020202020204" pitchFamily="34" charset="0"/>
              </a:rPr>
              <a:t>Source_Country</a:t>
            </a:r>
            <a:endParaRPr lang="en-IN" sz="1500" b="1"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4180F70-C49F-4040-AF07-0BC1A1AA3A68}"/>
              </a:ext>
            </a:extLst>
          </p:cNvPr>
          <p:cNvPicPr>
            <a:picLocks noChangeAspect="1"/>
          </p:cNvPicPr>
          <p:nvPr/>
        </p:nvPicPr>
        <p:blipFill>
          <a:blip r:embed="rId2"/>
          <a:stretch>
            <a:fillRect/>
          </a:stretch>
        </p:blipFill>
        <p:spPr>
          <a:xfrm>
            <a:off x="349344" y="2809123"/>
            <a:ext cx="9567023" cy="1650335"/>
          </a:xfrm>
          <a:prstGeom prst="rect">
            <a:avLst/>
          </a:prstGeom>
        </p:spPr>
      </p:pic>
      <p:pic>
        <p:nvPicPr>
          <p:cNvPr id="7" name="Picture 6">
            <a:extLst>
              <a:ext uri="{FF2B5EF4-FFF2-40B4-BE49-F238E27FC236}">
                <a16:creationId xmlns:a16="http://schemas.microsoft.com/office/drawing/2014/main" id="{E6AE641E-E2FF-43BB-B48F-A794585290FD}"/>
              </a:ext>
            </a:extLst>
          </p:cNvPr>
          <p:cNvPicPr>
            <a:picLocks noChangeAspect="1"/>
          </p:cNvPicPr>
          <p:nvPr/>
        </p:nvPicPr>
        <p:blipFill>
          <a:blip r:embed="rId3"/>
          <a:stretch>
            <a:fillRect/>
          </a:stretch>
        </p:blipFill>
        <p:spPr>
          <a:xfrm>
            <a:off x="239151" y="4905208"/>
            <a:ext cx="9092420" cy="1467055"/>
          </a:xfrm>
          <a:prstGeom prst="rect">
            <a:avLst/>
          </a:prstGeom>
        </p:spPr>
      </p:pic>
    </p:spTree>
    <p:extLst>
      <p:ext uri="{BB962C8B-B14F-4D97-AF65-F5344CB8AC3E}">
        <p14:creationId xmlns:p14="http://schemas.microsoft.com/office/powerpoint/2010/main" val="39735887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CCF0B-2523-4A12-AC80-3E35A20171A2}"/>
              </a:ext>
            </a:extLst>
          </p:cNvPr>
          <p:cNvSpPr>
            <a:spLocks noGrp="1"/>
          </p:cNvSpPr>
          <p:nvPr>
            <p:ph type="title"/>
          </p:nvPr>
        </p:nvSpPr>
        <p:spPr/>
        <p:txBody>
          <a:bodyPr/>
          <a:lstStyle/>
          <a:p>
            <a:r>
              <a:rPr lang="en-US" dirty="0"/>
              <a:t>TASK 7 TO CONTINUE…..</a:t>
            </a:r>
            <a:endParaRPr lang="en-IN" dirty="0"/>
          </a:p>
        </p:txBody>
      </p:sp>
      <p:sp>
        <p:nvSpPr>
          <p:cNvPr id="7" name="Content Placeholder 6">
            <a:extLst>
              <a:ext uri="{FF2B5EF4-FFF2-40B4-BE49-F238E27FC236}">
                <a16:creationId xmlns:a16="http://schemas.microsoft.com/office/drawing/2014/main" id="{AA5222A4-68FE-44AC-916D-A356525C471D}"/>
              </a:ext>
            </a:extLst>
          </p:cNvPr>
          <p:cNvSpPr>
            <a:spLocks noGrp="1"/>
          </p:cNvSpPr>
          <p:nvPr>
            <p:ph idx="1"/>
          </p:nvPr>
        </p:nvSpPr>
        <p:spPr>
          <a:xfrm>
            <a:off x="464234" y="2335237"/>
            <a:ext cx="9516379" cy="3684563"/>
          </a:xfrm>
        </p:spPr>
        <p:txBody>
          <a:bodyPr/>
          <a:lstStyle/>
          <a:p>
            <a:r>
              <a:rPr lang="en-US" sz="1500" b="1" dirty="0">
                <a:latin typeface="Arial" panose="020B0604020202020204" pitchFamily="34" charset="0"/>
                <a:cs typeface="Arial" panose="020B0604020202020204" pitchFamily="34" charset="0"/>
              </a:rPr>
              <a:t>Business Insight:</a:t>
            </a:r>
            <a:endParaRPr lang="en-US" sz="1500" dirty="0">
              <a:latin typeface="Arial" panose="020B0604020202020204" pitchFamily="34" charset="0"/>
              <a:cs typeface="Arial" panose="020B0604020202020204" pitchFamily="34" charset="0"/>
            </a:endParaRPr>
          </a:p>
          <a:p>
            <a:r>
              <a:rPr lang="en-US" sz="1500" b="1" dirty="0">
                <a:latin typeface="Arial" panose="020B0604020202020204" pitchFamily="34" charset="0"/>
                <a:cs typeface="Arial" panose="020B0604020202020204" pitchFamily="34" charset="0"/>
              </a:rPr>
              <a:t>Warehouse W010</a:t>
            </a:r>
            <a:r>
              <a:rPr lang="en-US" sz="1500" dirty="0">
                <a:latin typeface="Arial" panose="020B0604020202020204" pitchFamily="34" charset="0"/>
                <a:cs typeface="Arial" panose="020B0604020202020204" pitchFamily="34" charset="0"/>
              </a:rPr>
              <a:t> has the highest average delivery delay (</a:t>
            </a:r>
            <a:r>
              <a:rPr lang="en-US" sz="1500" b="1" dirty="0">
                <a:latin typeface="Arial" panose="020B0604020202020204" pitchFamily="34" charset="0"/>
                <a:cs typeface="Arial" panose="020B0604020202020204" pitchFamily="34" charset="0"/>
              </a:rPr>
              <a:t>0.97 days</a:t>
            </a:r>
            <a:r>
              <a:rPr lang="en-US" sz="1500" dirty="0">
                <a:latin typeface="Arial" panose="020B0604020202020204" pitchFamily="34" charset="0"/>
                <a:cs typeface="Arial" panose="020B0604020202020204" pitchFamily="34" charset="0"/>
              </a:rPr>
              <a:t>), followed by </a:t>
            </a:r>
            <a:r>
              <a:rPr lang="en-US" sz="1500" b="1" dirty="0">
                <a:latin typeface="Arial" panose="020B0604020202020204" pitchFamily="34" charset="0"/>
                <a:cs typeface="Arial" panose="020B0604020202020204" pitchFamily="34" charset="0"/>
              </a:rPr>
              <a:t>W005 (0.92 days)</a:t>
            </a:r>
            <a:r>
              <a:rPr lang="en-US" sz="1500" dirty="0">
                <a:latin typeface="Arial" panose="020B0604020202020204" pitchFamily="34" charset="0"/>
                <a:cs typeface="Arial" panose="020B0604020202020204" pitchFamily="34" charset="0"/>
              </a:rPr>
              <a:t> and </a:t>
            </a:r>
            <a:r>
              <a:rPr lang="en-US" sz="1500" b="1" dirty="0">
                <a:latin typeface="Arial" panose="020B0604020202020204" pitchFamily="34" charset="0"/>
                <a:cs typeface="Arial" panose="020B0604020202020204" pitchFamily="34" charset="0"/>
              </a:rPr>
              <a:t>W003 (0.87 days)</a:t>
            </a:r>
            <a:r>
              <a:rPr lang="en-US" sz="1500" dirty="0">
                <a:latin typeface="Arial" panose="020B0604020202020204" pitchFamily="34" charset="0"/>
                <a:cs typeface="Arial" panose="020B0604020202020204" pitchFamily="34" charset="0"/>
              </a:rPr>
              <a:t>. These warehouses take longer to deliver orders and may need improvements in their operations.</a:t>
            </a:r>
          </a:p>
          <a:p>
            <a:r>
              <a:rPr lang="en-US" sz="1500" b="1" dirty="0">
                <a:latin typeface="Arial" panose="020B0604020202020204" pitchFamily="34" charset="0"/>
                <a:cs typeface="Arial" panose="020B0604020202020204" pitchFamily="34" charset="0"/>
              </a:rPr>
              <a:t>Recommendation:</a:t>
            </a:r>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Review the dispatch process, warehouse operations, and staffing at </a:t>
            </a:r>
            <a:r>
              <a:rPr lang="en-US" sz="1500" b="1" dirty="0">
                <a:latin typeface="Arial" panose="020B0604020202020204" pitchFamily="34" charset="0"/>
                <a:cs typeface="Arial" panose="020B0604020202020204" pitchFamily="34" charset="0"/>
              </a:rPr>
              <a:t>W010, W005, and W003</a:t>
            </a:r>
            <a:r>
              <a:rPr lang="en-US" sz="1500" dirty="0">
                <a:latin typeface="Arial" panose="020B0604020202020204" pitchFamily="34" charset="0"/>
                <a:cs typeface="Arial" panose="020B0604020202020204" pitchFamily="34" charset="0"/>
              </a:rPr>
              <a:t>. Improving these areas can help reduce delivery delays and improve customer satisfaction.</a:t>
            </a:r>
          </a:p>
          <a:p>
            <a:r>
              <a:rPr lang="en-US" sz="1500" b="1" dirty="0">
                <a:latin typeface="Arial" panose="020B0604020202020204" pitchFamily="34" charset="0"/>
                <a:cs typeface="Arial" panose="020B0604020202020204" pitchFamily="34" charset="0"/>
              </a:rPr>
              <a:t>2.On-Time Delivery % = (Total On-Time Deliveries / Total Deliveries) * 100. </a:t>
            </a:r>
          </a:p>
          <a:p>
            <a:endParaRPr lang="en-IN" sz="1500" b="1" dirty="0">
              <a:latin typeface="Arial" panose="020B0604020202020204" pitchFamily="34" charset="0"/>
              <a:cs typeface="Arial" panose="020B0604020202020204" pitchFamily="34" charset="0"/>
            </a:endParaRPr>
          </a:p>
          <a:p>
            <a:endParaRPr lang="en-IN" dirty="0"/>
          </a:p>
        </p:txBody>
      </p:sp>
      <p:pic>
        <p:nvPicPr>
          <p:cNvPr id="9" name="Picture 8">
            <a:extLst>
              <a:ext uri="{FF2B5EF4-FFF2-40B4-BE49-F238E27FC236}">
                <a16:creationId xmlns:a16="http://schemas.microsoft.com/office/drawing/2014/main" id="{6CDC015C-9BE0-40E0-B324-759EBB39BE3D}"/>
              </a:ext>
            </a:extLst>
          </p:cNvPr>
          <p:cNvPicPr>
            <a:picLocks noChangeAspect="1"/>
          </p:cNvPicPr>
          <p:nvPr/>
        </p:nvPicPr>
        <p:blipFill>
          <a:blip r:embed="rId2"/>
          <a:stretch>
            <a:fillRect/>
          </a:stretch>
        </p:blipFill>
        <p:spPr>
          <a:xfrm>
            <a:off x="464235" y="4754888"/>
            <a:ext cx="9903654" cy="2103111"/>
          </a:xfrm>
          <a:prstGeom prst="rect">
            <a:avLst/>
          </a:prstGeom>
        </p:spPr>
      </p:pic>
    </p:spTree>
    <p:extLst>
      <p:ext uri="{BB962C8B-B14F-4D97-AF65-F5344CB8AC3E}">
        <p14:creationId xmlns:p14="http://schemas.microsoft.com/office/powerpoint/2010/main" val="28728339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4BC0C-68C8-40BD-B5AD-3A8C4F2CC278}"/>
              </a:ext>
            </a:extLst>
          </p:cNvPr>
          <p:cNvSpPr>
            <a:spLocks noGrp="1"/>
          </p:cNvSpPr>
          <p:nvPr>
            <p:ph type="title"/>
          </p:nvPr>
        </p:nvSpPr>
        <p:spPr/>
        <p:txBody>
          <a:bodyPr/>
          <a:lstStyle/>
          <a:p>
            <a:r>
              <a:rPr lang="en-US" dirty="0"/>
              <a:t>TASK 7 TO CONTINUE…..</a:t>
            </a:r>
            <a:endParaRPr lang="en-IN" dirty="0"/>
          </a:p>
        </p:txBody>
      </p:sp>
      <p:pic>
        <p:nvPicPr>
          <p:cNvPr id="5" name="Content Placeholder 4">
            <a:extLst>
              <a:ext uri="{FF2B5EF4-FFF2-40B4-BE49-F238E27FC236}">
                <a16:creationId xmlns:a16="http://schemas.microsoft.com/office/drawing/2014/main" id="{F8CDAB81-53A4-4252-8534-DE23EEFD565C}"/>
              </a:ext>
            </a:extLst>
          </p:cNvPr>
          <p:cNvPicPr>
            <a:picLocks noGrp="1" noChangeAspect="1"/>
          </p:cNvPicPr>
          <p:nvPr>
            <p:ph idx="1"/>
          </p:nvPr>
        </p:nvPicPr>
        <p:blipFill>
          <a:blip r:embed="rId2"/>
          <a:stretch>
            <a:fillRect/>
          </a:stretch>
        </p:blipFill>
        <p:spPr>
          <a:xfrm>
            <a:off x="866198" y="2286008"/>
            <a:ext cx="5703414" cy="1142992"/>
          </a:xfrm>
        </p:spPr>
      </p:pic>
      <p:sp>
        <p:nvSpPr>
          <p:cNvPr id="7" name="TextBox 6">
            <a:extLst>
              <a:ext uri="{FF2B5EF4-FFF2-40B4-BE49-F238E27FC236}">
                <a16:creationId xmlns:a16="http://schemas.microsoft.com/office/drawing/2014/main" id="{193FF153-136A-4022-A130-9FDB9D3DD356}"/>
              </a:ext>
            </a:extLst>
          </p:cNvPr>
          <p:cNvSpPr txBox="1"/>
          <p:nvPr/>
        </p:nvSpPr>
        <p:spPr>
          <a:xfrm>
            <a:off x="767724" y="3429000"/>
            <a:ext cx="8281318" cy="323165"/>
          </a:xfrm>
          <a:prstGeom prst="rect">
            <a:avLst/>
          </a:prstGeom>
          <a:noFill/>
        </p:spPr>
        <p:txBody>
          <a:bodyPr wrap="square">
            <a:spAutoFit/>
          </a:bodyPr>
          <a:lstStyle/>
          <a:p>
            <a:r>
              <a:rPr lang="en-US" sz="1500" b="1" dirty="0">
                <a:latin typeface="Arial" panose="020B0604020202020204" pitchFamily="34" charset="0"/>
                <a:cs typeface="Arial" panose="020B0604020202020204" pitchFamily="34" charset="0"/>
              </a:rPr>
              <a:t>3.Average Delay (in hours) per </a:t>
            </a:r>
            <a:r>
              <a:rPr lang="en-US" sz="1500" b="1" dirty="0" err="1">
                <a:latin typeface="Arial" panose="020B0604020202020204" pitchFamily="34" charset="0"/>
                <a:cs typeface="Arial" panose="020B0604020202020204" pitchFamily="34" charset="0"/>
              </a:rPr>
              <a:t>Route_ID</a:t>
            </a:r>
            <a:endParaRPr lang="en-IN" sz="1500" b="1" dirty="0">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90216B25-24A4-421B-A81D-E2B9B8C65CDF}"/>
              </a:ext>
            </a:extLst>
          </p:cNvPr>
          <p:cNvPicPr>
            <a:picLocks noChangeAspect="1"/>
          </p:cNvPicPr>
          <p:nvPr/>
        </p:nvPicPr>
        <p:blipFill>
          <a:blip r:embed="rId3"/>
          <a:stretch>
            <a:fillRect/>
          </a:stretch>
        </p:blipFill>
        <p:spPr>
          <a:xfrm>
            <a:off x="753655" y="4271636"/>
            <a:ext cx="5651299" cy="2030689"/>
          </a:xfrm>
          <a:prstGeom prst="rect">
            <a:avLst/>
          </a:prstGeom>
        </p:spPr>
      </p:pic>
      <p:pic>
        <p:nvPicPr>
          <p:cNvPr id="11" name="Picture 10">
            <a:extLst>
              <a:ext uri="{FF2B5EF4-FFF2-40B4-BE49-F238E27FC236}">
                <a16:creationId xmlns:a16="http://schemas.microsoft.com/office/drawing/2014/main" id="{15A5FC16-6369-425B-BE53-84F1B5474DFA}"/>
              </a:ext>
            </a:extLst>
          </p:cNvPr>
          <p:cNvPicPr>
            <a:picLocks noChangeAspect="1"/>
          </p:cNvPicPr>
          <p:nvPr/>
        </p:nvPicPr>
        <p:blipFill>
          <a:blip r:embed="rId4"/>
          <a:stretch>
            <a:fillRect/>
          </a:stretch>
        </p:blipFill>
        <p:spPr>
          <a:xfrm>
            <a:off x="6910592" y="3700290"/>
            <a:ext cx="4276900" cy="3157710"/>
          </a:xfrm>
          <a:prstGeom prst="rect">
            <a:avLst/>
          </a:prstGeom>
        </p:spPr>
      </p:pic>
    </p:spTree>
    <p:extLst>
      <p:ext uri="{BB962C8B-B14F-4D97-AF65-F5344CB8AC3E}">
        <p14:creationId xmlns:p14="http://schemas.microsoft.com/office/powerpoint/2010/main" val="3081714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4FC0D-AB3D-4F24-8107-53FB4CB9D5EB}"/>
              </a:ext>
            </a:extLst>
          </p:cNvPr>
          <p:cNvSpPr>
            <a:spLocks noGrp="1"/>
          </p:cNvSpPr>
          <p:nvPr>
            <p:ph type="title"/>
          </p:nvPr>
        </p:nvSpPr>
        <p:spPr/>
        <p:txBody>
          <a:bodyPr/>
          <a:lstStyle/>
          <a:p>
            <a:r>
              <a:rPr lang="en-US" dirty="0"/>
              <a:t>TASK 7 TO CONTINUE…..</a:t>
            </a:r>
            <a:endParaRPr lang="en-IN" dirty="0"/>
          </a:p>
        </p:txBody>
      </p:sp>
      <p:sp>
        <p:nvSpPr>
          <p:cNvPr id="3" name="Content Placeholder 2">
            <a:extLst>
              <a:ext uri="{FF2B5EF4-FFF2-40B4-BE49-F238E27FC236}">
                <a16:creationId xmlns:a16="http://schemas.microsoft.com/office/drawing/2014/main" id="{FC3DA72E-3ECF-41D2-AD9B-2EEF15AD0B40}"/>
              </a:ext>
            </a:extLst>
          </p:cNvPr>
          <p:cNvSpPr>
            <a:spLocks noGrp="1"/>
          </p:cNvSpPr>
          <p:nvPr>
            <p:ph idx="1"/>
          </p:nvPr>
        </p:nvSpPr>
        <p:spPr>
          <a:xfrm>
            <a:off x="0" y="2603500"/>
            <a:ext cx="9980613" cy="4050518"/>
          </a:xfrm>
        </p:spPr>
        <p:txBody>
          <a:bodyPr/>
          <a:lstStyle/>
          <a:p>
            <a:r>
              <a:rPr lang="en-US" sz="1500" b="1" dirty="0">
                <a:latin typeface="Arial" panose="020B0604020202020204" pitchFamily="34" charset="0"/>
                <a:cs typeface="Arial" panose="020B0604020202020204" pitchFamily="34" charset="0"/>
              </a:rPr>
              <a:t> 4.  Warehouse Utilization % = (</a:t>
            </a:r>
            <a:r>
              <a:rPr lang="en-US" sz="1500" b="1" dirty="0" err="1">
                <a:latin typeface="Arial" panose="020B0604020202020204" pitchFamily="34" charset="0"/>
                <a:cs typeface="Arial" panose="020B0604020202020204" pitchFamily="34" charset="0"/>
              </a:rPr>
              <a:t>Shipments_Handled</a:t>
            </a:r>
            <a:r>
              <a:rPr lang="en-US" sz="1500" b="1" dirty="0">
                <a:latin typeface="Arial" panose="020B0604020202020204" pitchFamily="34" charset="0"/>
                <a:cs typeface="Arial" panose="020B0604020202020204" pitchFamily="34" charset="0"/>
              </a:rPr>
              <a:t> / </a:t>
            </a:r>
            <a:r>
              <a:rPr lang="en-US" sz="1500" b="1" dirty="0" err="1">
                <a:latin typeface="Arial" panose="020B0604020202020204" pitchFamily="34" charset="0"/>
                <a:cs typeface="Arial" panose="020B0604020202020204" pitchFamily="34" charset="0"/>
              </a:rPr>
              <a:t>Capacity_per_day</a:t>
            </a:r>
            <a:r>
              <a:rPr lang="en-US" sz="1500" b="1" dirty="0">
                <a:latin typeface="Arial" panose="020B0604020202020204" pitchFamily="34" charset="0"/>
                <a:cs typeface="Arial" panose="020B0604020202020204" pitchFamily="34" charset="0"/>
              </a:rPr>
              <a:t>) * 100.</a:t>
            </a:r>
          </a:p>
          <a:p>
            <a:endParaRPr lang="en-IN" dirty="0"/>
          </a:p>
        </p:txBody>
      </p:sp>
      <p:pic>
        <p:nvPicPr>
          <p:cNvPr id="5" name="Picture 4">
            <a:extLst>
              <a:ext uri="{FF2B5EF4-FFF2-40B4-BE49-F238E27FC236}">
                <a16:creationId xmlns:a16="http://schemas.microsoft.com/office/drawing/2014/main" id="{0F9FAEF2-CF20-45CD-875F-81D470D1DDDE}"/>
              </a:ext>
            </a:extLst>
          </p:cNvPr>
          <p:cNvPicPr>
            <a:picLocks noChangeAspect="1"/>
          </p:cNvPicPr>
          <p:nvPr/>
        </p:nvPicPr>
        <p:blipFill>
          <a:blip r:embed="rId2"/>
          <a:stretch>
            <a:fillRect/>
          </a:stretch>
        </p:blipFill>
        <p:spPr>
          <a:xfrm>
            <a:off x="891516" y="3120347"/>
            <a:ext cx="8197580" cy="1199759"/>
          </a:xfrm>
          <a:prstGeom prst="rect">
            <a:avLst/>
          </a:prstGeom>
        </p:spPr>
      </p:pic>
      <p:pic>
        <p:nvPicPr>
          <p:cNvPr id="7" name="Picture 6">
            <a:extLst>
              <a:ext uri="{FF2B5EF4-FFF2-40B4-BE49-F238E27FC236}">
                <a16:creationId xmlns:a16="http://schemas.microsoft.com/office/drawing/2014/main" id="{D55E5745-45EA-4896-82FE-9C745DFF3913}"/>
              </a:ext>
            </a:extLst>
          </p:cNvPr>
          <p:cNvPicPr>
            <a:picLocks noChangeAspect="1"/>
          </p:cNvPicPr>
          <p:nvPr/>
        </p:nvPicPr>
        <p:blipFill>
          <a:blip r:embed="rId3"/>
          <a:stretch>
            <a:fillRect/>
          </a:stretch>
        </p:blipFill>
        <p:spPr>
          <a:xfrm>
            <a:off x="1154954" y="4748771"/>
            <a:ext cx="7257526" cy="1476581"/>
          </a:xfrm>
          <a:prstGeom prst="rect">
            <a:avLst/>
          </a:prstGeom>
        </p:spPr>
      </p:pic>
    </p:spTree>
    <p:extLst>
      <p:ext uri="{BB962C8B-B14F-4D97-AF65-F5344CB8AC3E}">
        <p14:creationId xmlns:p14="http://schemas.microsoft.com/office/powerpoint/2010/main" val="31996648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6D46-7A4B-451C-91AD-256C7394349B}"/>
              </a:ext>
            </a:extLst>
          </p:cNvPr>
          <p:cNvSpPr>
            <a:spLocks noGrp="1"/>
          </p:cNvSpPr>
          <p:nvPr>
            <p:ph type="title"/>
          </p:nvPr>
        </p:nvSpPr>
        <p:spPr/>
        <p:txBody>
          <a:bodyPr/>
          <a:lstStyle/>
          <a:p>
            <a:r>
              <a:rPr lang="en-US" dirty="0"/>
              <a:t>TASK 7 TO CONTINUE…..</a:t>
            </a:r>
            <a:endParaRPr lang="en-IN" dirty="0"/>
          </a:p>
        </p:txBody>
      </p:sp>
      <p:sp>
        <p:nvSpPr>
          <p:cNvPr id="4" name="Content Placeholder 3">
            <a:extLst>
              <a:ext uri="{FF2B5EF4-FFF2-40B4-BE49-F238E27FC236}">
                <a16:creationId xmlns:a16="http://schemas.microsoft.com/office/drawing/2014/main" id="{CBDA6158-2DE3-4A30-AFD8-AA1A3AF9FA62}"/>
              </a:ext>
            </a:extLst>
          </p:cNvPr>
          <p:cNvSpPr txBox="1">
            <a:spLocks noGrp="1"/>
          </p:cNvSpPr>
          <p:nvPr>
            <p:ph idx="1"/>
          </p:nvPr>
        </p:nvSpPr>
        <p:spPr>
          <a:xfrm>
            <a:off x="1155700" y="2603500"/>
            <a:ext cx="8824913" cy="3416300"/>
          </a:xfrm>
          <a:prstGeom prst="rect">
            <a:avLst/>
          </a:prstGeom>
          <a:noFill/>
        </p:spPr>
        <p:txBody>
          <a:bodyPr wrap="square">
            <a:spAutoFit/>
          </a:bodyPr>
          <a:lstStyle/>
          <a:p>
            <a:r>
              <a:rPr lang="en-US" b="1" dirty="0"/>
              <a:t>Business Insight:</a:t>
            </a:r>
            <a:endParaRPr lang="en-US" dirty="0"/>
          </a:p>
          <a:p>
            <a:r>
              <a:rPr lang="en-US" b="1" dirty="0"/>
              <a:t>Warehouse W007</a:t>
            </a:r>
            <a:r>
              <a:rPr lang="en-US" dirty="0"/>
              <a:t> handled the highest number of shipments (</a:t>
            </a:r>
            <a:r>
              <a:rPr lang="en-US" b="1" dirty="0"/>
              <a:t>38</a:t>
            </a:r>
            <a:r>
              <a:rPr lang="en-US" dirty="0"/>
              <a:t>), followed by </a:t>
            </a:r>
            <a:r>
              <a:rPr lang="en-US" b="1" dirty="0"/>
              <a:t>W006 (37)</a:t>
            </a:r>
            <a:r>
              <a:rPr lang="en-US" dirty="0"/>
              <a:t> and </a:t>
            </a:r>
            <a:r>
              <a:rPr lang="en-US" b="1" dirty="0"/>
              <a:t>W001 (34)</a:t>
            </a:r>
            <a:r>
              <a:rPr lang="en-US" dirty="0"/>
              <a:t>. These warehouses have a higher workload and may need extra support during busy periods.</a:t>
            </a:r>
          </a:p>
          <a:p>
            <a:r>
              <a:rPr lang="en-US" b="1" dirty="0"/>
              <a:t>Recommendation:</a:t>
            </a:r>
            <a:endParaRPr lang="en-US" dirty="0"/>
          </a:p>
          <a:p>
            <a:r>
              <a:rPr lang="en-US" dirty="0"/>
              <a:t>Monitor these high-workload warehouses regularly and balance shipments across warehouses. If the workload increases, add staff or improve warehouse operations to reduce processing delays.</a:t>
            </a:r>
          </a:p>
        </p:txBody>
      </p:sp>
    </p:spTree>
    <p:extLst>
      <p:ext uri="{BB962C8B-B14F-4D97-AF65-F5344CB8AC3E}">
        <p14:creationId xmlns:p14="http://schemas.microsoft.com/office/powerpoint/2010/main" val="19913504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93B89-8813-4C22-86CD-B2388B0436DF}"/>
              </a:ext>
            </a:extLst>
          </p:cNvPr>
          <p:cNvSpPr>
            <a:spLocks noGrp="1"/>
          </p:cNvSpPr>
          <p:nvPr>
            <p:ph type="title"/>
          </p:nvPr>
        </p:nvSpPr>
        <p:spPr/>
        <p:txBody>
          <a:bodyPr/>
          <a:lstStyle/>
          <a:p>
            <a:r>
              <a:rPr lang="en-US" dirty="0"/>
              <a:t>TASK 7 TO CONTINUE…..</a:t>
            </a:r>
            <a:endParaRPr lang="en-IN" dirty="0"/>
          </a:p>
        </p:txBody>
      </p:sp>
      <p:graphicFrame>
        <p:nvGraphicFramePr>
          <p:cNvPr id="21" name="Content Placeholder 20">
            <a:extLst>
              <a:ext uri="{FF2B5EF4-FFF2-40B4-BE49-F238E27FC236}">
                <a16:creationId xmlns:a16="http://schemas.microsoft.com/office/drawing/2014/main" id="{CEDB3466-8E5A-4C3B-934E-FF8A97C344A3}"/>
              </a:ext>
            </a:extLst>
          </p:cNvPr>
          <p:cNvGraphicFramePr>
            <a:graphicFrameLocks noGrp="1"/>
          </p:cNvGraphicFramePr>
          <p:nvPr>
            <p:ph idx="1"/>
            <p:extLst>
              <p:ext uri="{D42A27DB-BD31-4B8C-83A1-F6EECF244321}">
                <p14:modId xmlns:p14="http://schemas.microsoft.com/office/powerpoint/2010/main" val="251594175"/>
              </p:ext>
            </p:extLst>
          </p:nvPr>
        </p:nvGraphicFramePr>
        <p:xfrm>
          <a:off x="1155700" y="2378416"/>
          <a:ext cx="8824913" cy="42545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808757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05B8-D364-4C45-B592-C07BEC31F680}"/>
              </a:ext>
            </a:extLst>
          </p:cNvPr>
          <p:cNvSpPr>
            <a:spLocks noGrp="1"/>
          </p:cNvSpPr>
          <p:nvPr>
            <p:ph type="title"/>
          </p:nvPr>
        </p:nvSpPr>
        <p:spPr/>
        <p:txBody>
          <a:bodyPr/>
          <a:lstStyle/>
          <a:p>
            <a:r>
              <a:rPr lang="en-US" dirty="0"/>
              <a:t>TASK 7 TO CONTINUE…..</a:t>
            </a:r>
            <a:endParaRPr lang="en-IN" dirty="0"/>
          </a:p>
        </p:txBody>
      </p:sp>
      <p:sp>
        <p:nvSpPr>
          <p:cNvPr id="3" name="Content Placeholder 2">
            <a:extLst>
              <a:ext uri="{FF2B5EF4-FFF2-40B4-BE49-F238E27FC236}">
                <a16:creationId xmlns:a16="http://schemas.microsoft.com/office/drawing/2014/main" id="{C28E53FF-D3B0-4B59-8969-43BAD4AEAA55}"/>
              </a:ext>
            </a:extLst>
          </p:cNvPr>
          <p:cNvSpPr>
            <a:spLocks noGrp="1"/>
          </p:cNvSpPr>
          <p:nvPr>
            <p:ph idx="1"/>
          </p:nvPr>
        </p:nvSpPr>
        <p:spPr/>
        <p:txBody>
          <a:bodyPr/>
          <a:lstStyle/>
          <a:p>
            <a:r>
              <a:rPr lang="en-US" b="1" dirty="0">
                <a:latin typeface="Arial" panose="020B0604020202020204" pitchFamily="34" charset="0"/>
                <a:cs typeface="Arial" panose="020B0604020202020204" pitchFamily="34" charset="0"/>
              </a:rPr>
              <a:t>Business Insight:</a:t>
            </a:r>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Warehouse W007</a:t>
            </a:r>
            <a:r>
              <a:rPr lang="en-US" dirty="0">
                <a:latin typeface="Arial" panose="020B0604020202020204" pitchFamily="34" charset="0"/>
                <a:cs typeface="Arial" panose="020B0604020202020204" pitchFamily="34" charset="0"/>
              </a:rPr>
              <a:t> handled the highest number of shipments (</a:t>
            </a:r>
            <a:r>
              <a:rPr lang="en-US" b="1" dirty="0">
                <a:latin typeface="Arial" panose="020B0604020202020204" pitchFamily="34" charset="0"/>
                <a:cs typeface="Arial" panose="020B0604020202020204" pitchFamily="34" charset="0"/>
              </a:rPr>
              <a:t>38</a:t>
            </a:r>
            <a:r>
              <a:rPr lang="en-US" dirty="0">
                <a:latin typeface="Arial" panose="020B0604020202020204" pitchFamily="34" charset="0"/>
                <a:cs typeface="Arial" panose="020B0604020202020204" pitchFamily="34" charset="0"/>
              </a:rPr>
              <a:t>), followed by </a:t>
            </a:r>
            <a:r>
              <a:rPr lang="en-US" b="1" dirty="0">
                <a:latin typeface="Arial" panose="020B0604020202020204" pitchFamily="34" charset="0"/>
                <a:cs typeface="Arial" panose="020B0604020202020204" pitchFamily="34" charset="0"/>
              </a:rPr>
              <a:t>W006 (37)</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W001 (34)</a:t>
            </a:r>
            <a:r>
              <a:rPr lang="en-US" dirty="0">
                <a:latin typeface="Arial" panose="020B0604020202020204" pitchFamily="34" charset="0"/>
                <a:cs typeface="Arial" panose="020B0604020202020204" pitchFamily="34" charset="0"/>
              </a:rPr>
              <a:t>. These warehouses have a higher workload and may need extra support during busy periods.</a:t>
            </a:r>
          </a:p>
          <a:p>
            <a:r>
              <a:rPr lang="en-US" b="1" dirty="0">
                <a:latin typeface="Arial" panose="020B0604020202020204" pitchFamily="34" charset="0"/>
                <a:cs typeface="Arial" panose="020B0604020202020204" pitchFamily="34" charset="0"/>
              </a:rPr>
              <a:t>Recommendation:</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Balance shipments across warehouses, increase staff or use automation in high-workload warehouses, and regularly monitor warehouse capacity to help prevent processing delays.</a:t>
            </a:r>
          </a:p>
          <a:p>
            <a:endParaRPr lang="en-IN" dirty="0"/>
          </a:p>
        </p:txBody>
      </p:sp>
    </p:spTree>
    <p:extLst>
      <p:ext uri="{BB962C8B-B14F-4D97-AF65-F5344CB8AC3E}">
        <p14:creationId xmlns:p14="http://schemas.microsoft.com/office/powerpoint/2010/main" val="11686374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A2B2A-0866-4ABB-8A6E-56CDFAAD63ED}"/>
              </a:ext>
            </a:extLst>
          </p:cNvPr>
          <p:cNvSpPr>
            <a:spLocks noGrp="1"/>
          </p:cNvSpPr>
          <p:nvPr>
            <p:ph type="title"/>
          </p:nvPr>
        </p:nvSpPr>
        <p:spPr>
          <a:xfrm rot="10800000" flipV="1">
            <a:off x="1154954" y="914400"/>
            <a:ext cx="8761413" cy="59268"/>
          </a:xfrm>
        </p:spPr>
        <p:txBody>
          <a:bodyPr/>
          <a:lstStyle/>
          <a:p>
            <a:r>
              <a:rPr lang="en-IN" sz="3200" dirty="0">
                <a:latin typeface="Arial" panose="020B0604020202020204" pitchFamily="34" charset="0"/>
                <a:cs typeface="Arial" panose="020B0604020202020204" pitchFamily="34" charset="0"/>
              </a:rPr>
              <a:t>Key Insights &amp; Business Recommendations</a:t>
            </a:r>
          </a:p>
        </p:txBody>
      </p:sp>
      <p:sp>
        <p:nvSpPr>
          <p:cNvPr id="3" name="Content Placeholder 2">
            <a:extLst>
              <a:ext uri="{FF2B5EF4-FFF2-40B4-BE49-F238E27FC236}">
                <a16:creationId xmlns:a16="http://schemas.microsoft.com/office/drawing/2014/main" id="{4E22A1DD-6486-4231-B193-EC7D4CCD84F8}"/>
              </a:ext>
            </a:extLst>
          </p:cNvPr>
          <p:cNvSpPr>
            <a:spLocks noGrp="1"/>
          </p:cNvSpPr>
          <p:nvPr>
            <p:ph idx="1"/>
          </p:nvPr>
        </p:nvSpPr>
        <p:spPr>
          <a:xfrm>
            <a:off x="370449" y="2056884"/>
            <a:ext cx="11451102" cy="4832252"/>
          </a:xfrm>
        </p:spPr>
        <p:txBody>
          <a:bodyPr>
            <a:normAutofit fontScale="62500" lnSpcReduction="20000"/>
          </a:bodyPr>
          <a:lstStyle/>
          <a:p>
            <a:r>
              <a:rPr lang="en-US" sz="2400" b="1" dirty="0">
                <a:latin typeface="Arial" panose="020B0604020202020204" pitchFamily="34" charset="0"/>
                <a:cs typeface="Arial" panose="020B0604020202020204" pitchFamily="34" charset="0"/>
              </a:rPr>
              <a:t>Key Insights</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Overall, </a:t>
            </a:r>
            <a:r>
              <a:rPr lang="en-US" sz="2400" b="1" dirty="0">
                <a:latin typeface="Arial" panose="020B0604020202020204" pitchFamily="34" charset="0"/>
                <a:cs typeface="Arial" panose="020B0604020202020204" pitchFamily="34" charset="0"/>
              </a:rPr>
              <a:t>56% of deliveries were on time</a:t>
            </a:r>
            <a:r>
              <a:rPr lang="en-US" sz="2400" dirty="0">
                <a:latin typeface="Arial" panose="020B0604020202020204" pitchFamily="34" charset="0"/>
                <a:cs typeface="Arial" panose="020B0604020202020204" pitchFamily="34" charset="0"/>
              </a:rPr>
              <a:t>. </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Route R012</a:t>
            </a:r>
            <a:r>
              <a:rPr lang="en-US" sz="2400" dirty="0">
                <a:latin typeface="Arial" panose="020B0604020202020204" pitchFamily="34" charset="0"/>
                <a:cs typeface="Arial" panose="020B0604020202020204" pitchFamily="34" charset="0"/>
              </a:rPr>
              <a:t> has the highest delivery delay. </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Route R014</a:t>
            </a:r>
            <a:r>
              <a:rPr lang="en-US" sz="2400" dirty="0">
                <a:latin typeface="Arial" panose="020B0604020202020204" pitchFamily="34" charset="0"/>
                <a:cs typeface="Arial" panose="020B0604020202020204" pitchFamily="34" charset="0"/>
              </a:rPr>
              <a:t> has the highest traffic delay. </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Warehouse W007</a:t>
            </a:r>
            <a:r>
              <a:rPr lang="en-US" sz="2400" dirty="0">
                <a:latin typeface="Arial" panose="020B0604020202020204" pitchFamily="34" charset="0"/>
                <a:cs typeface="Arial" panose="020B0604020202020204" pitchFamily="34" charset="0"/>
              </a:rPr>
              <a:t> handled the most shipments. </a:t>
            </a:r>
          </a:p>
          <a:p>
            <a:pPr>
              <a:buFont typeface="Arial" panose="020B0604020202020204" pitchFamily="34" charset="0"/>
              <a:buChar char="•"/>
            </a:pPr>
            <a:r>
              <a:rPr lang="en-US" sz="2400" b="1" dirty="0">
                <a:latin typeface="Arial" panose="020B0604020202020204" pitchFamily="34" charset="0"/>
                <a:cs typeface="Arial" panose="020B0604020202020204" pitchFamily="34" charset="0"/>
              </a:rPr>
              <a:t>Sorting Delay</a:t>
            </a:r>
            <a:r>
              <a:rPr lang="en-US" sz="2400" dirty="0">
                <a:latin typeface="Arial" panose="020B0604020202020204" pitchFamily="34" charset="0"/>
                <a:cs typeface="Arial" panose="020B0604020202020204" pitchFamily="34" charset="0"/>
              </a:rPr>
              <a:t> is the biggest reason for shipment delays.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Some delivery agents have an on-time delivery rate below </a:t>
            </a:r>
            <a:r>
              <a:rPr lang="en-US" sz="2400" b="1" dirty="0">
                <a:latin typeface="Arial" panose="020B0604020202020204" pitchFamily="34" charset="0"/>
                <a:cs typeface="Arial" panose="020B0604020202020204" pitchFamily="34" charset="0"/>
              </a:rPr>
              <a:t>80%</a:t>
            </a:r>
            <a:r>
              <a:rPr lang="en-US" sz="2400" dirty="0">
                <a:latin typeface="Arial" panose="020B0604020202020204" pitchFamily="34" charset="0"/>
                <a:cs typeface="Arial" panose="020B0604020202020204" pitchFamily="34" charset="0"/>
              </a:rPr>
              <a:t>. </a:t>
            </a:r>
          </a:p>
          <a:p>
            <a:endParaRPr lang="en-US" sz="2400" b="1" dirty="0">
              <a:latin typeface="Arial" panose="020B0604020202020204" pitchFamily="34" charset="0"/>
              <a:cs typeface="Arial" panose="020B0604020202020204" pitchFamily="34" charset="0"/>
            </a:endParaRPr>
          </a:p>
          <a:p>
            <a:r>
              <a:rPr lang="en-US" sz="2400" b="1" dirty="0">
                <a:latin typeface="Arial" panose="020B0604020202020204" pitchFamily="34" charset="0"/>
                <a:cs typeface="Arial" panose="020B0604020202020204" pitchFamily="34" charset="0"/>
              </a:rPr>
              <a:t>Business Recommendations</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Improve planning for routes with high delays.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Make warehouse work faster and more efficient.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Improve the sorting process to reduce delays.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Give training to low-performing delivery agents.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Share the workload between warehouses. </a:t>
            </a:r>
          </a:p>
          <a:p>
            <a:pPr>
              <a:buFont typeface="Arial" panose="020B0604020202020204" pitchFamily="34" charset="0"/>
              <a:buChar char="•"/>
            </a:pPr>
            <a:r>
              <a:rPr lang="en-US" sz="2400" dirty="0">
                <a:latin typeface="Arial" panose="020B0604020202020204" pitchFamily="34" charset="0"/>
                <a:cs typeface="Arial" panose="020B0604020202020204" pitchFamily="34" charset="0"/>
              </a:rPr>
              <a:t>Track deliveries regularly to reduce delays.</a:t>
            </a:r>
          </a:p>
          <a:p>
            <a:endParaRPr lang="en-IN" dirty="0"/>
          </a:p>
        </p:txBody>
      </p:sp>
    </p:spTree>
    <p:extLst>
      <p:ext uri="{BB962C8B-B14F-4D97-AF65-F5344CB8AC3E}">
        <p14:creationId xmlns:p14="http://schemas.microsoft.com/office/powerpoint/2010/main" val="42865760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08C49-43E0-4887-AABF-E500035F3453}"/>
              </a:ext>
            </a:extLst>
          </p:cNvPr>
          <p:cNvSpPr>
            <a:spLocks noGrp="1"/>
          </p:cNvSpPr>
          <p:nvPr>
            <p:ph type="title"/>
          </p:nvPr>
        </p:nvSpPr>
        <p:spPr/>
        <p:txBody>
          <a:bodyPr/>
          <a:lstStyle/>
          <a:p>
            <a:r>
              <a:rPr lang="en-US" dirty="0"/>
              <a:t>Task 8: PPT Presentation and Video </a:t>
            </a:r>
            <a:endParaRPr lang="en-IN" dirty="0"/>
          </a:p>
        </p:txBody>
      </p:sp>
      <p:sp>
        <p:nvSpPr>
          <p:cNvPr id="3" name="Content Placeholder 2">
            <a:extLst>
              <a:ext uri="{FF2B5EF4-FFF2-40B4-BE49-F238E27FC236}">
                <a16:creationId xmlns:a16="http://schemas.microsoft.com/office/drawing/2014/main" id="{FA5897E4-4D33-4174-B469-79833FBE51BD}"/>
              </a:ext>
            </a:extLst>
          </p:cNvPr>
          <p:cNvSpPr>
            <a:spLocks noGrp="1"/>
          </p:cNvSpPr>
          <p:nvPr>
            <p:ph idx="1"/>
          </p:nvPr>
        </p:nvSpPr>
        <p:spPr/>
        <p:txBody>
          <a:bodyPr/>
          <a:lstStyle/>
          <a:p>
            <a:r>
              <a:rPr lang="en-IN" dirty="0">
                <a:hlinkClick r:id="rId2" action="ppaction://hlinkpres?slideindex=1&amp;slidetitle=Logistics Optimization for Delivery Routes using SQL :UPS ..." tooltip="https://www.loom.com/share/86fa42d3d8964e2196ccfcfd69b85e9e"/>
              </a:rPr>
              <a:t>https://www.loom.com/share/86fa42d3d8964e2196ccfcfd69b85e9e</a:t>
            </a:r>
            <a:endParaRPr lang="en-IN" dirty="0"/>
          </a:p>
        </p:txBody>
      </p:sp>
    </p:spTree>
    <p:extLst>
      <p:ext uri="{BB962C8B-B14F-4D97-AF65-F5344CB8AC3E}">
        <p14:creationId xmlns:p14="http://schemas.microsoft.com/office/powerpoint/2010/main" val="37174261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2484B45-B352-402A-81B5-5127C8FE9608}"/>
              </a:ext>
            </a:extLst>
          </p:cNvPr>
          <p:cNvSpPr>
            <a:spLocks noGrp="1"/>
          </p:cNvSpPr>
          <p:nvPr>
            <p:ph type="title"/>
          </p:nvPr>
        </p:nvSpPr>
        <p:spPr>
          <a:xfrm>
            <a:off x="1154954" y="1255022"/>
            <a:ext cx="8761413" cy="706964"/>
          </a:xfrm>
        </p:spPr>
        <p:txBody>
          <a:bodyPr/>
          <a:lstStyle/>
          <a:p>
            <a:pPr algn="ctr"/>
            <a:r>
              <a:rPr lang="en-US" sz="6600" b="1" dirty="0"/>
              <a:t>Thank you!</a:t>
            </a:r>
            <a:br>
              <a:rPr lang="en-US" dirty="0"/>
            </a:br>
            <a:endParaRPr lang="en-IN" dirty="0"/>
          </a:p>
        </p:txBody>
      </p:sp>
      <p:sp>
        <p:nvSpPr>
          <p:cNvPr id="9" name="TextBox 8">
            <a:extLst>
              <a:ext uri="{FF2B5EF4-FFF2-40B4-BE49-F238E27FC236}">
                <a16:creationId xmlns:a16="http://schemas.microsoft.com/office/drawing/2014/main" id="{525250BA-275F-4010-A13B-6458C410D572}"/>
              </a:ext>
            </a:extLst>
          </p:cNvPr>
          <p:cNvSpPr txBox="1"/>
          <p:nvPr/>
        </p:nvSpPr>
        <p:spPr>
          <a:xfrm>
            <a:off x="225084" y="3191580"/>
            <a:ext cx="11183816" cy="1015663"/>
          </a:xfrm>
          <a:prstGeom prst="rect">
            <a:avLst/>
          </a:prstGeom>
          <a:noFill/>
        </p:spPr>
        <p:txBody>
          <a:bodyPr wrap="square">
            <a:spAutoFit/>
          </a:bodyPr>
          <a:lstStyle/>
          <a:p>
            <a:r>
              <a:rPr lang="en-US" sz="4800" dirty="0">
                <a:latin typeface="Arial" panose="020B0604020202020204" pitchFamily="34" charset="0"/>
                <a:cs typeface="Arial" panose="020B0604020202020204" pitchFamily="34" charset="0"/>
              </a:rPr>
              <a:t>Thank you for your time and attention</a:t>
            </a:r>
            <a:r>
              <a:rPr lang="en-US" sz="6000" dirty="0">
                <a:latin typeface="Arial" panose="020B0604020202020204" pitchFamily="34" charset="0"/>
                <a:cs typeface="Arial" panose="020B0604020202020204" pitchFamily="34" charset="0"/>
              </a:rPr>
              <a:t>.</a:t>
            </a:r>
            <a:endParaRPr lang="en-IN"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02548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{2E2E929C-36B2-4235-9DD4-EB945FC76C46}TF229edf6a-8a49-49ee-a0a6-5037052947485fb3ca0c-bc27bf41d645</Template>
  <TotalTime>4294</TotalTime>
  <Words>3074</Words>
  <Application>Microsoft Office PowerPoint</Application>
  <PresentationFormat>Widescreen</PresentationFormat>
  <Paragraphs>353</Paragraphs>
  <Slides>51</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Arial</vt:lpstr>
      <vt:lpstr>Arial Unicode MS</vt:lpstr>
      <vt:lpstr>Century Gothic</vt:lpstr>
      <vt:lpstr>Wingdings 3</vt:lpstr>
      <vt:lpstr>Ion Boardroom</vt:lpstr>
      <vt:lpstr>Logistics Optimization for Delivery Routes using SQL :UPS Logistics </vt:lpstr>
      <vt:lpstr>Project Objective</vt:lpstr>
      <vt:lpstr>Dataset Used</vt:lpstr>
      <vt:lpstr>-- =========================-- TASK 1: DATA CLEANING =========================</vt:lpstr>
      <vt:lpstr>TASK 1 TO CONTINUE…..</vt:lpstr>
      <vt:lpstr>TASK 1 TO CONTINUE…..</vt:lpstr>
      <vt:lpstr>TASK 1 TO CONTINUE…..</vt:lpstr>
      <vt:lpstr>TASK 1 TO CONTINUE…..</vt:lpstr>
      <vt:lpstr>TASK 2: DELIVERY DELAY ANALYSIS</vt:lpstr>
      <vt:lpstr>TASK 2 TO CONTINUE…..</vt:lpstr>
      <vt:lpstr>Top 10 Delayed Routes (Average Delay in Days)</vt:lpstr>
      <vt:lpstr>TASK 2 TO CONTINUE…..</vt:lpstr>
      <vt:lpstr>TASK 2 TO CONTINUE…..</vt:lpstr>
      <vt:lpstr>TASK 2 TO CONTINUE…..</vt:lpstr>
      <vt:lpstr>TASK 2 TO CONTINUE…..</vt:lpstr>
      <vt:lpstr> TASK 3: ROUTE OPTIMIZATION</vt:lpstr>
      <vt:lpstr>TASK 3 TO CONTINUE…..</vt:lpstr>
      <vt:lpstr>TASK 3 TO CONTINUE…..</vt:lpstr>
      <vt:lpstr>TASK 3 TO CONTINUE…..</vt:lpstr>
      <vt:lpstr>TASK 3 TO CONTINUE…..</vt:lpstr>
      <vt:lpstr>TASK 3 TO CONTINUE…..</vt:lpstr>
      <vt:lpstr>TASK 3 TO CONTINUE…..</vt:lpstr>
      <vt:lpstr>TASK 3 TO CONTINUE…..</vt:lpstr>
      <vt:lpstr>TASK 3 TO CONTINUE…..</vt:lpstr>
      <vt:lpstr>TASK 3 TO CONTINUE…..</vt:lpstr>
      <vt:lpstr>TASK 4  :Warehouse Performance</vt:lpstr>
      <vt:lpstr>TASK 4 TO CONTINUE…..</vt:lpstr>
      <vt:lpstr>TASK 4 TO CONTINUE…..</vt:lpstr>
      <vt:lpstr>TASK 4 TO CONTINUE…..</vt:lpstr>
      <vt:lpstr>TASK 4 TO CONTINUE…..</vt:lpstr>
      <vt:lpstr>TASK 5: Delivery Agent Performance</vt:lpstr>
      <vt:lpstr>TASK 5 TO CONTINUE…..</vt:lpstr>
      <vt:lpstr>TASK 5 TO CONTINUE…..</vt:lpstr>
      <vt:lpstr>TASK 5 TO CONTINUE…..</vt:lpstr>
      <vt:lpstr>TASK 5 TO CONTINUE…..</vt:lpstr>
      <vt:lpstr>Task 6: Shipment Tracking Analytics</vt:lpstr>
      <vt:lpstr>TASK 6 TO CONTINUE…..</vt:lpstr>
      <vt:lpstr>TASK 6 TO CONTINUE…..</vt:lpstr>
      <vt:lpstr>TASK 6 TO CONTINUE…..</vt:lpstr>
      <vt:lpstr>TASK 6 TO CONTINUE…..</vt:lpstr>
      <vt:lpstr>TASK 6 TO CONTINUE…..</vt:lpstr>
      <vt:lpstr>Task 7: Advanced KPI Reporting</vt:lpstr>
      <vt:lpstr>TASK 7 TO CONTINUE…..</vt:lpstr>
      <vt:lpstr>TASK 7 TO CONTINUE…..</vt:lpstr>
      <vt:lpstr>TASK 7 TO CONTINUE…..</vt:lpstr>
      <vt:lpstr>TASK 7 TO CONTINUE…..</vt:lpstr>
      <vt:lpstr>TASK 7 TO CONTINUE…..</vt:lpstr>
      <vt:lpstr>TASK 7 TO CONTINUE…..</vt:lpstr>
      <vt:lpstr>Key Insights &amp; Business Recommendations</vt:lpstr>
      <vt:lpstr>Task 8: PPT Presentation and Video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Logistics SQL Project</dc:title>
  <dc:creator>Home</dc:creator>
  <cp:lastModifiedBy>Ratna Ghanghoriya</cp:lastModifiedBy>
  <cp:revision>78</cp:revision>
  <dcterms:created xsi:type="dcterms:W3CDTF">2026-04-26T03:06:16Z</dcterms:created>
  <dcterms:modified xsi:type="dcterms:W3CDTF">2026-07-22T07:35:47Z</dcterms:modified>
</cp:coreProperties>
</file>